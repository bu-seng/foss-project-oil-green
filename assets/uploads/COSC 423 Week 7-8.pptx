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69"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4" r:id="rId39"/>
    <p:sldId id="295" r:id="rId40"/>
    <p:sldId id="296" r:id="rId41"/>
    <p:sldId id="297" r:id="rId42"/>
    <p:sldId id="298" r:id="rId43"/>
    <p:sldId id="357" r:id="rId44"/>
    <p:sldId id="293" r:id="rId45"/>
    <p:sldId id="299" r:id="rId46"/>
    <p:sldId id="301" r:id="rId47"/>
    <p:sldId id="302" r:id="rId48"/>
    <p:sldId id="303" r:id="rId49"/>
    <p:sldId id="304" r:id="rId50"/>
    <p:sldId id="305" r:id="rId51"/>
    <p:sldId id="306" r:id="rId52"/>
    <p:sldId id="300" r:id="rId53"/>
    <p:sldId id="307" r:id="rId54"/>
    <p:sldId id="308" r:id="rId55"/>
    <p:sldId id="309" r:id="rId56"/>
    <p:sldId id="310" r:id="rId57"/>
    <p:sldId id="311" r:id="rId58"/>
    <p:sldId id="312"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B98759-21F9-4E1B-B75E-BC4288EBBCE7}" type="datetimeFigureOut">
              <a:rPr lang="en-US" smtClean="0"/>
              <a:t>10/19/2025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FF2818-A986-48A9-A686-CEE3072211FD}" type="slidenum">
              <a:rPr lang="en-US" smtClean="0"/>
              <a:t>‹#›</a:t>
            </a:fld>
            <a:endParaRPr lang="en-US"/>
          </a:p>
        </p:txBody>
      </p:sp>
    </p:spTree>
    <p:extLst>
      <p:ext uri="{BB962C8B-B14F-4D97-AF65-F5344CB8AC3E}">
        <p14:creationId xmlns:p14="http://schemas.microsoft.com/office/powerpoint/2010/main" val="314401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DFS is very useful in solving problems where search depth is known or can be estimated</a:t>
            </a:r>
          </a:p>
          <a:p>
            <a:r>
              <a:rPr lang="en-US" dirty="0"/>
              <a:t>Useful in </a:t>
            </a:r>
            <a:r>
              <a:rPr lang="en-US" b="1" dirty="0"/>
              <a:t>game trees</a:t>
            </a:r>
            <a:endParaRPr lang="en-US" dirty="0"/>
          </a:p>
          <a:p>
            <a:endParaRPr lang="en-US" dirty="0"/>
          </a:p>
        </p:txBody>
      </p:sp>
      <p:sp>
        <p:nvSpPr>
          <p:cNvPr id="4" name="Slide Number Placeholder 3"/>
          <p:cNvSpPr>
            <a:spLocks noGrp="1"/>
          </p:cNvSpPr>
          <p:nvPr>
            <p:ph type="sldNum" sz="quarter" idx="5"/>
          </p:nvPr>
        </p:nvSpPr>
        <p:spPr/>
        <p:txBody>
          <a:bodyPr/>
          <a:lstStyle/>
          <a:p>
            <a:fld id="{52FF2818-A986-48A9-A686-CEE3072211FD}" type="slidenum">
              <a:rPr lang="en-US" smtClean="0"/>
              <a:t>19</a:t>
            </a:fld>
            <a:endParaRPr lang="en-US"/>
          </a:p>
        </p:txBody>
      </p:sp>
    </p:spTree>
    <p:extLst>
      <p:ext uri="{BB962C8B-B14F-4D97-AF65-F5344CB8AC3E}">
        <p14:creationId xmlns:p14="http://schemas.microsoft.com/office/powerpoint/2010/main" val="2675189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DFS can be used for various tasks including searching for a path between two nodes, traversing a tree or graph to visit all nodes or solving certain types of puzzles. It's often used as a building block in more complex algorithms and AI applications such as solving mazes, analyzing game states or exploring decision trees in search algorithms like minimax for games like chess or tic-tac-toe.</a:t>
            </a:r>
            <a:endParaRPr lang="en-US" dirty="0"/>
          </a:p>
        </p:txBody>
      </p:sp>
      <p:sp>
        <p:nvSpPr>
          <p:cNvPr id="4" name="Slide Number Placeholder 3"/>
          <p:cNvSpPr>
            <a:spLocks noGrp="1"/>
          </p:cNvSpPr>
          <p:nvPr>
            <p:ph type="sldNum" sz="quarter" idx="5"/>
          </p:nvPr>
        </p:nvSpPr>
        <p:spPr/>
        <p:txBody>
          <a:bodyPr/>
          <a:lstStyle/>
          <a:p>
            <a:fld id="{52FF2818-A986-48A9-A686-CEE3072211FD}" type="slidenum">
              <a:rPr lang="en-US" smtClean="0"/>
              <a:t>20</a:t>
            </a:fld>
            <a:endParaRPr lang="en-US"/>
          </a:p>
        </p:txBody>
      </p:sp>
    </p:spTree>
    <p:extLst>
      <p:ext uri="{BB962C8B-B14F-4D97-AF65-F5344CB8AC3E}">
        <p14:creationId xmlns:p14="http://schemas.microsoft.com/office/powerpoint/2010/main" val="2262579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DLS </a:t>
            </a:r>
            <a:r>
              <a:rPr lang="en-US" b="1" dirty="0"/>
              <a:t>is not complete</a:t>
            </a:r>
            <a:r>
              <a:rPr lang="en-US" dirty="0"/>
              <a:t> </a:t>
            </a:r>
            <a:r>
              <a:rPr lang="en-US" b="1" dirty="0"/>
              <a:t>if</a:t>
            </a:r>
            <a:r>
              <a:rPr lang="en-US" dirty="0"/>
              <a:t> the </a:t>
            </a:r>
            <a:r>
              <a:rPr lang="en-US" b="1" dirty="0"/>
              <a:t>depth limit (ℓ)</a:t>
            </a:r>
            <a:r>
              <a:rPr lang="en-US" dirty="0"/>
              <a:t> is </a:t>
            </a:r>
            <a:r>
              <a:rPr lang="en-US" b="1" dirty="0"/>
              <a:t>less than the depth</a:t>
            </a:r>
            <a:r>
              <a:rPr lang="en-US" dirty="0"/>
              <a:t> of the shallowest goal node.</a:t>
            </a:r>
          </a:p>
          <a:p>
            <a:r>
              <a:rPr lang="en-US" dirty="0"/>
              <a:t>It </a:t>
            </a:r>
            <a:r>
              <a:rPr lang="en-US" b="1" dirty="0"/>
              <a:t>becomes complete</a:t>
            </a:r>
            <a:r>
              <a:rPr lang="en-US" dirty="0"/>
              <a:t> only </a:t>
            </a:r>
            <a:r>
              <a:rPr lang="en-US" b="1" dirty="0"/>
              <a:t>if</a:t>
            </a:r>
            <a:r>
              <a:rPr lang="en-US" dirty="0"/>
              <a:t> the </a:t>
            </a:r>
            <a:r>
              <a:rPr lang="en-US" b="1" dirty="0"/>
              <a:t>limit ℓ ≥ depth of the goal</a:t>
            </a:r>
            <a:r>
              <a:rPr lang="en-US" dirty="0"/>
              <a:t>.</a:t>
            </a:r>
          </a:p>
          <a:p>
            <a:endParaRPr lang="en-US" dirty="0"/>
          </a:p>
        </p:txBody>
      </p:sp>
      <p:sp>
        <p:nvSpPr>
          <p:cNvPr id="4" name="Slide Number Placeholder 3"/>
          <p:cNvSpPr>
            <a:spLocks noGrp="1"/>
          </p:cNvSpPr>
          <p:nvPr>
            <p:ph type="sldNum" sz="quarter" idx="5"/>
          </p:nvPr>
        </p:nvSpPr>
        <p:spPr/>
        <p:txBody>
          <a:bodyPr/>
          <a:lstStyle/>
          <a:p>
            <a:fld id="{52FF2818-A986-48A9-A686-CEE3072211FD}" type="slidenum">
              <a:rPr lang="en-US" smtClean="0"/>
              <a:t>21</a:t>
            </a:fld>
            <a:endParaRPr lang="en-US"/>
          </a:p>
        </p:txBody>
      </p:sp>
    </p:spTree>
    <p:extLst>
      <p:ext uri="{BB962C8B-B14F-4D97-AF65-F5344CB8AC3E}">
        <p14:creationId xmlns:p14="http://schemas.microsoft.com/office/powerpoint/2010/main" val="31284698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UCS operates under a simple principle: among all possible expansions, pick the path that has the smallest total cost from the start node. This is implemented using a priority queue to keep the partial paths in order, based on the total cost from the root node.</a:t>
            </a:r>
            <a:endParaRPr lang="en-US" dirty="0"/>
          </a:p>
        </p:txBody>
      </p:sp>
      <p:sp>
        <p:nvSpPr>
          <p:cNvPr id="4" name="Slide Number Placeholder 3"/>
          <p:cNvSpPr>
            <a:spLocks noGrp="1"/>
          </p:cNvSpPr>
          <p:nvPr>
            <p:ph type="sldNum" sz="quarter" idx="5"/>
          </p:nvPr>
        </p:nvSpPr>
        <p:spPr/>
        <p:txBody>
          <a:bodyPr/>
          <a:lstStyle/>
          <a:p>
            <a:fld id="{52FF2818-A986-48A9-A686-CEE3072211FD}" type="slidenum">
              <a:rPr lang="en-US" smtClean="0"/>
              <a:t>26</a:t>
            </a:fld>
            <a:endParaRPr lang="en-US"/>
          </a:p>
        </p:txBody>
      </p:sp>
    </p:spTree>
    <p:extLst>
      <p:ext uri="{BB962C8B-B14F-4D97-AF65-F5344CB8AC3E}">
        <p14:creationId xmlns:p14="http://schemas.microsoft.com/office/powerpoint/2010/main" val="14877223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and paste the code given on google </a:t>
            </a:r>
            <a:r>
              <a:rPr lang="en-US" dirty="0" err="1"/>
              <a:t>colab</a:t>
            </a:r>
            <a:endParaRPr lang="en-US" dirty="0"/>
          </a:p>
        </p:txBody>
      </p:sp>
      <p:sp>
        <p:nvSpPr>
          <p:cNvPr id="4" name="Slide Number Placeholder 3"/>
          <p:cNvSpPr>
            <a:spLocks noGrp="1"/>
          </p:cNvSpPr>
          <p:nvPr>
            <p:ph type="sldNum" sz="quarter" idx="5"/>
          </p:nvPr>
        </p:nvSpPr>
        <p:spPr/>
        <p:txBody>
          <a:bodyPr/>
          <a:lstStyle/>
          <a:p>
            <a:fld id="{52FF2818-A986-48A9-A686-CEE3072211FD}" type="slidenum">
              <a:rPr lang="en-US" smtClean="0"/>
              <a:t>45</a:t>
            </a:fld>
            <a:endParaRPr lang="en-US"/>
          </a:p>
        </p:txBody>
      </p:sp>
    </p:spTree>
    <p:extLst>
      <p:ext uri="{BB962C8B-B14F-4D97-AF65-F5344CB8AC3E}">
        <p14:creationId xmlns:p14="http://schemas.microsoft.com/office/powerpoint/2010/main" val="906452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8DDBF-6D30-34F6-F22E-161374378A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8A68482-761C-2F4A-54A3-7C77F6A746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6862491-57A9-EC9D-6F3C-A814B7A626AA}"/>
              </a:ext>
            </a:extLst>
          </p:cNvPr>
          <p:cNvSpPr>
            <a:spLocks noGrp="1"/>
          </p:cNvSpPr>
          <p:nvPr>
            <p:ph type="dt" sz="half" idx="10"/>
          </p:nvPr>
        </p:nvSpPr>
        <p:spPr/>
        <p:txBody>
          <a:bodyPr/>
          <a:lstStyle/>
          <a:p>
            <a:fld id="{7512CBBC-ABDE-4215-8E1D-F7388FBB5EFC}" type="datetimeFigureOut">
              <a:rPr lang="en-US" smtClean="0"/>
              <a:t>10/17/2025</a:t>
            </a:fld>
            <a:endParaRPr lang="en-US"/>
          </a:p>
        </p:txBody>
      </p:sp>
      <p:sp>
        <p:nvSpPr>
          <p:cNvPr id="5" name="Footer Placeholder 4">
            <a:extLst>
              <a:ext uri="{FF2B5EF4-FFF2-40B4-BE49-F238E27FC236}">
                <a16:creationId xmlns:a16="http://schemas.microsoft.com/office/drawing/2014/main" id="{B9D2B92B-197F-8036-4F62-0AC3B25C74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A317B4-3DD1-C552-6F64-24C191231A5A}"/>
              </a:ext>
            </a:extLst>
          </p:cNvPr>
          <p:cNvSpPr>
            <a:spLocks noGrp="1"/>
          </p:cNvSpPr>
          <p:nvPr>
            <p:ph type="sldNum" sz="quarter" idx="12"/>
          </p:nvPr>
        </p:nvSpPr>
        <p:spPr/>
        <p:txBody>
          <a:bodyPr/>
          <a:lstStyle/>
          <a:p>
            <a:fld id="{44D0B03C-3850-41F9-9D84-07F86A9F5D0F}" type="slidenum">
              <a:rPr lang="en-US" smtClean="0"/>
              <a:t>‹#›</a:t>
            </a:fld>
            <a:endParaRPr lang="en-US"/>
          </a:p>
        </p:txBody>
      </p:sp>
    </p:spTree>
    <p:extLst>
      <p:ext uri="{BB962C8B-B14F-4D97-AF65-F5344CB8AC3E}">
        <p14:creationId xmlns:p14="http://schemas.microsoft.com/office/powerpoint/2010/main" val="20395900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328D8-CE80-762B-66AC-D92B4C6E952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B31088-88E0-7F92-A15D-84A976B768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279D6C-5C25-9526-3452-24A36DAC3061}"/>
              </a:ext>
            </a:extLst>
          </p:cNvPr>
          <p:cNvSpPr>
            <a:spLocks noGrp="1"/>
          </p:cNvSpPr>
          <p:nvPr>
            <p:ph type="dt" sz="half" idx="10"/>
          </p:nvPr>
        </p:nvSpPr>
        <p:spPr/>
        <p:txBody>
          <a:bodyPr/>
          <a:lstStyle/>
          <a:p>
            <a:fld id="{7512CBBC-ABDE-4215-8E1D-F7388FBB5EFC}" type="datetimeFigureOut">
              <a:rPr lang="en-US" smtClean="0"/>
              <a:t>10/17/2025</a:t>
            </a:fld>
            <a:endParaRPr lang="en-US"/>
          </a:p>
        </p:txBody>
      </p:sp>
      <p:sp>
        <p:nvSpPr>
          <p:cNvPr id="5" name="Footer Placeholder 4">
            <a:extLst>
              <a:ext uri="{FF2B5EF4-FFF2-40B4-BE49-F238E27FC236}">
                <a16:creationId xmlns:a16="http://schemas.microsoft.com/office/drawing/2014/main" id="{5BBD7F70-B807-C00B-E4E2-A422D4AC04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075538-757B-363E-7B80-036DD2ADF527}"/>
              </a:ext>
            </a:extLst>
          </p:cNvPr>
          <p:cNvSpPr>
            <a:spLocks noGrp="1"/>
          </p:cNvSpPr>
          <p:nvPr>
            <p:ph type="sldNum" sz="quarter" idx="12"/>
          </p:nvPr>
        </p:nvSpPr>
        <p:spPr/>
        <p:txBody>
          <a:bodyPr/>
          <a:lstStyle/>
          <a:p>
            <a:fld id="{44D0B03C-3850-41F9-9D84-07F86A9F5D0F}" type="slidenum">
              <a:rPr lang="en-US" smtClean="0"/>
              <a:t>‹#›</a:t>
            </a:fld>
            <a:endParaRPr lang="en-US"/>
          </a:p>
        </p:txBody>
      </p:sp>
    </p:spTree>
    <p:extLst>
      <p:ext uri="{BB962C8B-B14F-4D97-AF65-F5344CB8AC3E}">
        <p14:creationId xmlns:p14="http://schemas.microsoft.com/office/powerpoint/2010/main" val="2859498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ABAB5-B660-B38A-7A8A-2383BC3059F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E240BDE-C7A7-275B-B094-85E1CBDF4DE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EBCB662-C371-9202-C043-F76AA0B738F6}"/>
              </a:ext>
            </a:extLst>
          </p:cNvPr>
          <p:cNvSpPr>
            <a:spLocks noGrp="1"/>
          </p:cNvSpPr>
          <p:nvPr>
            <p:ph type="dt" sz="half" idx="10"/>
          </p:nvPr>
        </p:nvSpPr>
        <p:spPr/>
        <p:txBody>
          <a:bodyPr/>
          <a:lstStyle/>
          <a:p>
            <a:fld id="{7512CBBC-ABDE-4215-8E1D-F7388FBB5EFC}" type="datetimeFigureOut">
              <a:rPr lang="en-US" smtClean="0"/>
              <a:t>10/17/2025</a:t>
            </a:fld>
            <a:endParaRPr lang="en-US"/>
          </a:p>
        </p:txBody>
      </p:sp>
      <p:sp>
        <p:nvSpPr>
          <p:cNvPr id="5" name="Footer Placeholder 4">
            <a:extLst>
              <a:ext uri="{FF2B5EF4-FFF2-40B4-BE49-F238E27FC236}">
                <a16:creationId xmlns:a16="http://schemas.microsoft.com/office/drawing/2014/main" id="{24FE8867-2CDE-AD5E-E030-29CF5A9822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6D8446-6971-6007-09FE-92257B169356}"/>
              </a:ext>
            </a:extLst>
          </p:cNvPr>
          <p:cNvSpPr>
            <a:spLocks noGrp="1"/>
          </p:cNvSpPr>
          <p:nvPr>
            <p:ph type="sldNum" sz="quarter" idx="12"/>
          </p:nvPr>
        </p:nvSpPr>
        <p:spPr/>
        <p:txBody>
          <a:bodyPr/>
          <a:lstStyle/>
          <a:p>
            <a:fld id="{44D0B03C-3850-41F9-9D84-07F86A9F5D0F}" type="slidenum">
              <a:rPr lang="en-US" smtClean="0"/>
              <a:t>‹#›</a:t>
            </a:fld>
            <a:endParaRPr lang="en-US"/>
          </a:p>
        </p:txBody>
      </p:sp>
    </p:spTree>
    <p:extLst>
      <p:ext uri="{BB962C8B-B14F-4D97-AF65-F5344CB8AC3E}">
        <p14:creationId xmlns:p14="http://schemas.microsoft.com/office/powerpoint/2010/main" val="1503548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C6FFD-49D5-2B83-67F3-1D87148CD7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476E24-B0C2-0565-F61B-6FB0C64515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52A919F-1A64-D685-360D-D89ED27F73E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6C483D2-922D-E54D-0948-A8DE987822B8}"/>
              </a:ext>
            </a:extLst>
          </p:cNvPr>
          <p:cNvSpPr>
            <a:spLocks noGrp="1"/>
          </p:cNvSpPr>
          <p:nvPr>
            <p:ph type="dt" sz="half" idx="10"/>
          </p:nvPr>
        </p:nvSpPr>
        <p:spPr/>
        <p:txBody>
          <a:bodyPr/>
          <a:lstStyle/>
          <a:p>
            <a:fld id="{7512CBBC-ABDE-4215-8E1D-F7388FBB5EFC}" type="datetimeFigureOut">
              <a:rPr lang="en-US" smtClean="0"/>
              <a:t>10/17/2025</a:t>
            </a:fld>
            <a:endParaRPr lang="en-US"/>
          </a:p>
        </p:txBody>
      </p:sp>
      <p:sp>
        <p:nvSpPr>
          <p:cNvPr id="6" name="Footer Placeholder 5">
            <a:extLst>
              <a:ext uri="{FF2B5EF4-FFF2-40B4-BE49-F238E27FC236}">
                <a16:creationId xmlns:a16="http://schemas.microsoft.com/office/drawing/2014/main" id="{56ABA777-C715-4C7B-0ADB-42F13E9E23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34D7A3-6DE0-FC37-6991-5774C39C5117}"/>
              </a:ext>
            </a:extLst>
          </p:cNvPr>
          <p:cNvSpPr>
            <a:spLocks noGrp="1"/>
          </p:cNvSpPr>
          <p:nvPr>
            <p:ph type="sldNum" sz="quarter" idx="12"/>
          </p:nvPr>
        </p:nvSpPr>
        <p:spPr/>
        <p:txBody>
          <a:bodyPr/>
          <a:lstStyle/>
          <a:p>
            <a:fld id="{44D0B03C-3850-41F9-9D84-07F86A9F5D0F}" type="slidenum">
              <a:rPr lang="en-US" smtClean="0"/>
              <a:t>‹#›</a:t>
            </a:fld>
            <a:endParaRPr lang="en-US"/>
          </a:p>
        </p:txBody>
      </p:sp>
    </p:spTree>
    <p:extLst>
      <p:ext uri="{BB962C8B-B14F-4D97-AF65-F5344CB8AC3E}">
        <p14:creationId xmlns:p14="http://schemas.microsoft.com/office/powerpoint/2010/main" val="7943489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D57E3-85AD-89BC-1243-20691DE535A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7F061AC-F9B5-65B6-3057-B1A1C76720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54F6CDA-7766-3B47-34B0-61E9C0A5472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835B22B-B4AA-64AB-76ED-E3F90D2D9F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70CC970-2E24-4FF7-6771-0EE61A1047D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EB6A5B4-D934-6351-47B6-76E2E13D5CA2}"/>
              </a:ext>
            </a:extLst>
          </p:cNvPr>
          <p:cNvSpPr>
            <a:spLocks noGrp="1"/>
          </p:cNvSpPr>
          <p:nvPr>
            <p:ph type="dt" sz="half" idx="10"/>
          </p:nvPr>
        </p:nvSpPr>
        <p:spPr/>
        <p:txBody>
          <a:bodyPr/>
          <a:lstStyle/>
          <a:p>
            <a:fld id="{7512CBBC-ABDE-4215-8E1D-F7388FBB5EFC}" type="datetimeFigureOut">
              <a:rPr lang="en-US" smtClean="0"/>
              <a:t>10/17/2025</a:t>
            </a:fld>
            <a:endParaRPr lang="en-US"/>
          </a:p>
        </p:txBody>
      </p:sp>
      <p:sp>
        <p:nvSpPr>
          <p:cNvPr id="8" name="Footer Placeholder 7">
            <a:extLst>
              <a:ext uri="{FF2B5EF4-FFF2-40B4-BE49-F238E27FC236}">
                <a16:creationId xmlns:a16="http://schemas.microsoft.com/office/drawing/2014/main" id="{D00D9DDA-C900-88C5-2B93-07169A592F9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EB4D06D-DFFC-25F5-99BB-983170793778}"/>
              </a:ext>
            </a:extLst>
          </p:cNvPr>
          <p:cNvSpPr>
            <a:spLocks noGrp="1"/>
          </p:cNvSpPr>
          <p:nvPr>
            <p:ph type="sldNum" sz="quarter" idx="12"/>
          </p:nvPr>
        </p:nvSpPr>
        <p:spPr/>
        <p:txBody>
          <a:bodyPr/>
          <a:lstStyle/>
          <a:p>
            <a:fld id="{44D0B03C-3850-41F9-9D84-07F86A9F5D0F}" type="slidenum">
              <a:rPr lang="en-US" smtClean="0"/>
              <a:t>‹#›</a:t>
            </a:fld>
            <a:endParaRPr lang="en-US"/>
          </a:p>
        </p:txBody>
      </p:sp>
    </p:spTree>
    <p:extLst>
      <p:ext uri="{BB962C8B-B14F-4D97-AF65-F5344CB8AC3E}">
        <p14:creationId xmlns:p14="http://schemas.microsoft.com/office/powerpoint/2010/main" val="1335477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2A018-61AC-4735-B3B3-9C480A18E8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26BC3C6-ADAD-B46B-011C-F231112275C5}"/>
              </a:ext>
            </a:extLst>
          </p:cNvPr>
          <p:cNvSpPr>
            <a:spLocks noGrp="1"/>
          </p:cNvSpPr>
          <p:nvPr>
            <p:ph type="dt" sz="half" idx="10"/>
          </p:nvPr>
        </p:nvSpPr>
        <p:spPr/>
        <p:txBody>
          <a:bodyPr/>
          <a:lstStyle/>
          <a:p>
            <a:fld id="{7512CBBC-ABDE-4215-8E1D-F7388FBB5EFC}" type="datetimeFigureOut">
              <a:rPr lang="en-US" smtClean="0"/>
              <a:t>10/17/2025</a:t>
            </a:fld>
            <a:endParaRPr lang="en-US"/>
          </a:p>
        </p:txBody>
      </p:sp>
      <p:sp>
        <p:nvSpPr>
          <p:cNvPr id="4" name="Footer Placeholder 3">
            <a:extLst>
              <a:ext uri="{FF2B5EF4-FFF2-40B4-BE49-F238E27FC236}">
                <a16:creationId xmlns:a16="http://schemas.microsoft.com/office/drawing/2014/main" id="{A6822A57-CBBF-AAB4-ED71-24C26F3E9BF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43811A1-34D9-9DF5-6CE2-58842D88A354}"/>
              </a:ext>
            </a:extLst>
          </p:cNvPr>
          <p:cNvSpPr>
            <a:spLocks noGrp="1"/>
          </p:cNvSpPr>
          <p:nvPr>
            <p:ph type="sldNum" sz="quarter" idx="12"/>
          </p:nvPr>
        </p:nvSpPr>
        <p:spPr/>
        <p:txBody>
          <a:bodyPr/>
          <a:lstStyle/>
          <a:p>
            <a:fld id="{44D0B03C-3850-41F9-9D84-07F86A9F5D0F}" type="slidenum">
              <a:rPr lang="en-US" smtClean="0"/>
              <a:t>‹#›</a:t>
            </a:fld>
            <a:endParaRPr lang="en-US"/>
          </a:p>
        </p:txBody>
      </p:sp>
    </p:spTree>
    <p:extLst>
      <p:ext uri="{BB962C8B-B14F-4D97-AF65-F5344CB8AC3E}">
        <p14:creationId xmlns:p14="http://schemas.microsoft.com/office/powerpoint/2010/main" val="40815413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A8CF59-7C66-DA6B-97F8-D356FF17EC1A}"/>
              </a:ext>
            </a:extLst>
          </p:cNvPr>
          <p:cNvSpPr>
            <a:spLocks noGrp="1"/>
          </p:cNvSpPr>
          <p:nvPr>
            <p:ph type="dt" sz="half" idx="10"/>
          </p:nvPr>
        </p:nvSpPr>
        <p:spPr/>
        <p:txBody>
          <a:bodyPr/>
          <a:lstStyle/>
          <a:p>
            <a:fld id="{7512CBBC-ABDE-4215-8E1D-F7388FBB5EFC}" type="datetimeFigureOut">
              <a:rPr lang="en-US" smtClean="0"/>
              <a:t>10/17/2025</a:t>
            </a:fld>
            <a:endParaRPr lang="en-US"/>
          </a:p>
        </p:txBody>
      </p:sp>
      <p:sp>
        <p:nvSpPr>
          <p:cNvPr id="3" name="Footer Placeholder 2">
            <a:extLst>
              <a:ext uri="{FF2B5EF4-FFF2-40B4-BE49-F238E27FC236}">
                <a16:creationId xmlns:a16="http://schemas.microsoft.com/office/drawing/2014/main" id="{3EA01F10-9965-4811-58A8-9B12ADCD931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8C10A02-E18A-C540-502A-2FBF8D1BF723}"/>
              </a:ext>
            </a:extLst>
          </p:cNvPr>
          <p:cNvSpPr>
            <a:spLocks noGrp="1"/>
          </p:cNvSpPr>
          <p:nvPr>
            <p:ph type="sldNum" sz="quarter" idx="12"/>
          </p:nvPr>
        </p:nvSpPr>
        <p:spPr/>
        <p:txBody>
          <a:bodyPr/>
          <a:lstStyle/>
          <a:p>
            <a:fld id="{44D0B03C-3850-41F9-9D84-07F86A9F5D0F}" type="slidenum">
              <a:rPr lang="en-US" smtClean="0"/>
              <a:t>‹#›</a:t>
            </a:fld>
            <a:endParaRPr lang="en-US"/>
          </a:p>
        </p:txBody>
      </p:sp>
    </p:spTree>
    <p:extLst>
      <p:ext uri="{BB962C8B-B14F-4D97-AF65-F5344CB8AC3E}">
        <p14:creationId xmlns:p14="http://schemas.microsoft.com/office/powerpoint/2010/main" val="22591316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FA153-5DBA-1EBA-D447-0D1FD351D6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2F62A20-7EBE-34AC-7572-0E013E4D33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9F6F66B-3968-EE83-F167-474A7A8F8C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EFC9C8-EEE0-FE3F-B934-9B285357FA33}"/>
              </a:ext>
            </a:extLst>
          </p:cNvPr>
          <p:cNvSpPr>
            <a:spLocks noGrp="1"/>
          </p:cNvSpPr>
          <p:nvPr>
            <p:ph type="dt" sz="half" idx="10"/>
          </p:nvPr>
        </p:nvSpPr>
        <p:spPr/>
        <p:txBody>
          <a:bodyPr/>
          <a:lstStyle/>
          <a:p>
            <a:fld id="{7512CBBC-ABDE-4215-8E1D-F7388FBB5EFC}" type="datetimeFigureOut">
              <a:rPr lang="en-US" smtClean="0"/>
              <a:t>10/17/2025</a:t>
            </a:fld>
            <a:endParaRPr lang="en-US"/>
          </a:p>
        </p:txBody>
      </p:sp>
      <p:sp>
        <p:nvSpPr>
          <p:cNvPr id="6" name="Footer Placeholder 5">
            <a:extLst>
              <a:ext uri="{FF2B5EF4-FFF2-40B4-BE49-F238E27FC236}">
                <a16:creationId xmlns:a16="http://schemas.microsoft.com/office/drawing/2014/main" id="{11A35504-E1D2-4AAC-FA37-61976F323C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01AA2E-D131-21E5-2BDA-85D3802C7316}"/>
              </a:ext>
            </a:extLst>
          </p:cNvPr>
          <p:cNvSpPr>
            <a:spLocks noGrp="1"/>
          </p:cNvSpPr>
          <p:nvPr>
            <p:ph type="sldNum" sz="quarter" idx="12"/>
          </p:nvPr>
        </p:nvSpPr>
        <p:spPr/>
        <p:txBody>
          <a:bodyPr/>
          <a:lstStyle/>
          <a:p>
            <a:fld id="{44D0B03C-3850-41F9-9D84-07F86A9F5D0F}" type="slidenum">
              <a:rPr lang="en-US" smtClean="0"/>
              <a:t>‹#›</a:t>
            </a:fld>
            <a:endParaRPr lang="en-US"/>
          </a:p>
        </p:txBody>
      </p:sp>
    </p:spTree>
    <p:extLst>
      <p:ext uri="{BB962C8B-B14F-4D97-AF65-F5344CB8AC3E}">
        <p14:creationId xmlns:p14="http://schemas.microsoft.com/office/powerpoint/2010/main" val="4209353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DE969-E25C-B4D0-5D20-4891E8A57B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0EC5B67-F813-DC88-691E-44370CDCA1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B349CFA-6A69-C9FA-A992-203F296070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D6463B-031D-5540-7BA3-CDF3BD65B9BB}"/>
              </a:ext>
            </a:extLst>
          </p:cNvPr>
          <p:cNvSpPr>
            <a:spLocks noGrp="1"/>
          </p:cNvSpPr>
          <p:nvPr>
            <p:ph type="dt" sz="half" idx="10"/>
          </p:nvPr>
        </p:nvSpPr>
        <p:spPr/>
        <p:txBody>
          <a:bodyPr/>
          <a:lstStyle/>
          <a:p>
            <a:fld id="{7512CBBC-ABDE-4215-8E1D-F7388FBB5EFC}" type="datetimeFigureOut">
              <a:rPr lang="en-US" smtClean="0"/>
              <a:t>10/17/2025</a:t>
            </a:fld>
            <a:endParaRPr lang="en-US"/>
          </a:p>
        </p:txBody>
      </p:sp>
      <p:sp>
        <p:nvSpPr>
          <p:cNvPr id="6" name="Footer Placeholder 5">
            <a:extLst>
              <a:ext uri="{FF2B5EF4-FFF2-40B4-BE49-F238E27FC236}">
                <a16:creationId xmlns:a16="http://schemas.microsoft.com/office/drawing/2014/main" id="{8BC69CD7-B61D-E399-F832-87AA25EFDC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D4E100-48F0-8AFA-1C0B-201473324758}"/>
              </a:ext>
            </a:extLst>
          </p:cNvPr>
          <p:cNvSpPr>
            <a:spLocks noGrp="1"/>
          </p:cNvSpPr>
          <p:nvPr>
            <p:ph type="sldNum" sz="quarter" idx="12"/>
          </p:nvPr>
        </p:nvSpPr>
        <p:spPr/>
        <p:txBody>
          <a:bodyPr/>
          <a:lstStyle/>
          <a:p>
            <a:fld id="{44D0B03C-3850-41F9-9D84-07F86A9F5D0F}" type="slidenum">
              <a:rPr lang="en-US" smtClean="0"/>
              <a:t>‹#›</a:t>
            </a:fld>
            <a:endParaRPr lang="en-US"/>
          </a:p>
        </p:txBody>
      </p:sp>
    </p:spTree>
    <p:extLst>
      <p:ext uri="{BB962C8B-B14F-4D97-AF65-F5344CB8AC3E}">
        <p14:creationId xmlns:p14="http://schemas.microsoft.com/office/powerpoint/2010/main" val="2666040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01EAE-F366-E70B-E3E5-77F6BFC3008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8979801-FD16-E1C9-BE64-179DAF27F68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C0FB08-7410-42D9-211D-AC6357B92E1D}"/>
              </a:ext>
            </a:extLst>
          </p:cNvPr>
          <p:cNvSpPr>
            <a:spLocks noGrp="1"/>
          </p:cNvSpPr>
          <p:nvPr>
            <p:ph type="dt" sz="half" idx="10"/>
          </p:nvPr>
        </p:nvSpPr>
        <p:spPr/>
        <p:txBody>
          <a:bodyPr/>
          <a:lstStyle/>
          <a:p>
            <a:fld id="{7512CBBC-ABDE-4215-8E1D-F7388FBB5EFC}" type="datetimeFigureOut">
              <a:rPr lang="en-US" smtClean="0"/>
              <a:t>10/17/2025</a:t>
            </a:fld>
            <a:endParaRPr lang="en-US"/>
          </a:p>
        </p:txBody>
      </p:sp>
      <p:sp>
        <p:nvSpPr>
          <p:cNvPr id="5" name="Footer Placeholder 4">
            <a:extLst>
              <a:ext uri="{FF2B5EF4-FFF2-40B4-BE49-F238E27FC236}">
                <a16:creationId xmlns:a16="http://schemas.microsoft.com/office/drawing/2014/main" id="{27DCA2A5-5A43-5D0A-6434-F3D01F4D68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0CB7AD-081F-2197-6324-7091AF18FB49}"/>
              </a:ext>
            </a:extLst>
          </p:cNvPr>
          <p:cNvSpPr>
            <a:spLocks noGrp="1"/>
          </p:cNvSpPr>
          <p:nvPr>
            <p:ph type="sldNum" sz="quarter" idx="12"/>
          </p:nvPr>
        </p:nvSpPr>
        <p:spPr/>
        <p:txBody>
          <a:bodyPr/>
          <a:lstStyle/>
          <a:p>
            <a:fld id="{44D0B03C-3850-41F9-9D84-07F86A9F5D0F}" type="slidenum">
              <a:rPr lang="en-US" smtClean="0"/>
              <a:t>‹#›</a:t>
            </a:fld>
            <a:endParaRPr lang="en-US"/>
          </a:p>
        </p:txBody>
      </p:sp>
    </p:spTree>
    <p:extLst>
      <p:ext uri="{BB962C8B-B14F-4D97-AF65-F5344CB8AC3E}">
        <p14:creationId xmlns:p14="http://schemas.microsoft.com/office/powerpoint/2010/main" val="3045622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B00A74-F63B-73C7-9BBF-6816755C4CB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3B4C7FD-5D61-11C5-1A1F-572078D4AB4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66963B-7247-2AA8-D6C0-8CE50ED9CF36}"/>
              </a:ext>
            </a:extLst>
          </p:cNvPr>
          <p:cNvSpPr>
            <a:spLocks noGrp="1"/>
          </p:cNvSpPr>
          <p:nvPr>
            <p:ph type="dt" sz="half" idx="10"/>
          </p:nvPr>
        </p:nvSpPr>
        <p:spPr/>
        <p:txBody>
          <a:bodyPr/>
          <a:lstStyle/>
          <a:p>
            <a:fld id="{7512CBBC-ABDE-4215-8E1D-F7388FBB5EFC}" type="datetimeFigureOut">
              <a:rPr lang="en-US" smtClean="0"/>
              <a:t>10/17/2025</a:t>
            </a:fld>
            <a:endParaRPr lang="en-US"/>
          </a:p>
        </p:txBody>
      </p:sp>
      <p:sp>
        <p:nvSpPr>
          <p:cNvPr id="5" name="Footer Placeholder 4">
            <a:extLst>
              <a:ext uri="{FF2B5EF4-FFF2-40B4-BE49-F238E27FC236}">
                <a16:creationId xmlns:a16="http://schemas.microsoft.com/office/drawing/2014/main" id="{C6B77ADC-B32A-4A4F-DEDD-FA39D3C62B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A028CF-F224-425C-75FC-0D295AD41E86}"/>
              </a:ext>
            </a:extLst>
          </p:cNvPr>
          <p:cNvSpPr>
            <a:spLocks noGrp="1"/>
          </p:cNvSpPr>
          <p:nvPr>
            <p:ph type="sldNum" sz="quarter" idx="12"/>
          </p:nvPr>
        </p:nvSpPr>
        <p:spPr/>
        <p:txBody>
          <a:bodyPr/>
          <a:lstStyle/>
          <a:p>
            <a:fld id="{44D0B03C-3850-41F9-9D84-07F86A9F5D0F}" type="slidenum">
              <a:rPr lang="en-US" smtClean="0"/>
              <a:t>‹#›</a:t>
            </a:fld>
            <a:endParaRPr lang="en-US"/>
          </a:p>
        </p:txBody>
      </p:sp>
    </p:spTree>
    <p:extLst>
      <p:ext uri="{BB962C8B-B14F-4D97-AF65-F5344CB8AC3E}">
        <p14:creationId xmlns:p14="http://schemas.microsoft.com/office/powerpoint/2010/main" val="1510312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3FCD54-D4EA-A69E-D261-304FC1F4B8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ECA6859-4852-0E72-ACC1-72017B0418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4BAA31-B7D6-3BD5-051E-E9321891AE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512CBBC-ABDE-4215-8E1D-F7388FBB5EFC}" type="datetimeFigureOut">
              <a:rPr lang="en-US" smtClean="0"/>
              <a:t>10/17/2025</a:t>
            </a:fld>
            <a:endParaRPr lang="en-US"/>
          </a:p>
        </p:txBody>
      </p:sp>
      <p:sp>
        <p:nvSpPr>
          <p:cNvPr id="5" name="Footer Placeholder 4">
            <a:extLst>
              <a:ext uri="{FF2B5EF4-FFF2-40B4-BE49-F238E27FC236}">
                <a16:creationId xmlns:a16="http://schemas.microsoft.com/office/drawing/2014/main" id="{AC4507CE-0A97-A35F-D0AF-ABA974AB5B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DEE06AE-98E7-D902-5E78-F9B1C0B426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4D0B03C-3850-41F9-9D84-07F86A9F5D0F}" type="slidenum">
              <a:rPr lang="en-US" smtClean="0"/>
              <a:t>‹#›</a:t>
            </a:fld>
            <a:endParaRPr lang="en-US"/>
          </a:p>
        </p:txBody>
      </p:sp>
    </p:spTree>
    <p:extLst>
      <p:ext uri="{BB962C8B-B14F-4D97-AF65-F5344CB8AC3E}">
        <p14:creationId xmlns:p14="http://schemas.microsoft.com/office/powerpoint/2010/main" val="18507060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9002E61-BC87-0E32-BA79-D3779512D187}"/>
              </a:ext>
            </a:extLst>
          </p:cNvPr>
          <p:cNvSpPr>
            <a:spLocks noGrp="1"/>
          </p:cNvSpPr>
          <p:nvPr>
            <p:ph type="subTitle" idx="1"/>
          </p:nvPr>
        </p:nvSpPr>
        <p:spPr>
          <a:xfrm>
            <a:off x="149902" y="194871"/>
            <a:ext cx="11887200" cy="6340839"/>
          </a:xfrm>
        </p:spPr>
        <p:txBody>
          <a:bodyPr/>
          <a:lstStyle/>
          <a:p>
            <a:r>
              <a:rPr lang="en-US" b="1" dirty="0"/>
              <a:t>Introduction</a:t>
            </a:r>
          </a:p>
          <a:p>
            <a:pPr algn="l"/>
            <a:r>
              <a:rPr lang="en-US" dirty="0"/>
              <a:t>In our last class, we discussed Problem Formulation in AI, including important concepts, Search Algorithms, and applications.</a:t>
            </a:r>
          </a:p>
          <a:p>
            <a:pPr algn="l"/>
            <a:r>
              <a:rPr lang="en-US" dirty="0"/>
              <a:t> We also delved into uninformed search algorithms, specifically BFS.</a:t>
            </a:r>
          </a:p>
          <a:p>
            <a:pPr algn="l"/>
            <a:r>
              <a:rPr lang="en-US" dirty="0"/>
              <a:t> This week, we will continue by looking at two more types of Uninformed Search and finally discuss Informed Search Algorithms</a:t>
            </a:r>
          </a:p>
        </p:txBody>
      </p:sp>
    </p:spTree>
    <p:extLst>
      <p:ext uri="{BB962C8B-B14F-4D97-AF65-F5344CB8AC3E}">
        <p14:creationId xmlns:p14="http://schemas.microsoft.com/office/powerpoint/2010/main" val="3936473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38320E-3596-B213-E84F-7142F79E57A5}"/>
              </a:ext>
            </a:extLst>
          </p:cNvPr>
          <p:cNvSpPr>
            <a:spLocks noGrp="1"/>
          </p:cNvSpPr>
          <p:nvPr>
            <p:ph idx="1"/>
          </p:nvPr>
        </p:nvSpPr>
        <p:spPr>
          <a:xfrm>
            <a:off x="269823" y="194872"/>
            <a:ext cx="11707318" cy="6445771"/>
          </a:xfrm>
        </p:spPr>
        <p:txBody>
          <a:bodyPr>
            <a:normAutofit lnSpcReduction="10000"/>
          </a:bodyPr>
          <a:lstStyle/>
          <a:p>
            <a:pPr marL="0" indent="0" algn="just">
              <a:buNone/>
            </a:pPr>
            <a:r>
              <a:rPr lang="en-US" sz="2600" b="1" dirty="0">
                <a:latin typeface="Times New Roman" panose="02020603050405020304" pitchFamily="18" charset="0"/>
                <a:cs typeface="Times New Roman" panose="02020603050405020304" pitchFamily="18" charset="0"/>
              </a:rPr>
              <a:t>Learning Outcomes</a:t>
            </a:r>
          </a:p>
          <a:p>
            <a:pPr marL="0" indent="0" algn="just">
              <a:buNone/>
            </a:pPr>
            <a:r>
              <a:rPr lang="en-US" sz="2600" dirty="0">
                <a:latin typeface="Times New Roman" panose="02020603050405020304" pitchFamily="18" charset="0"/>
                <a:cs typeface="Times New Roman" panose="02020603050405020304" pitchFamily="18" charset="0"/>
              </a:rPr>
              <a:t>By the end of this lesson, students should be able to:</a:t>
            </a:r>
          </a:p>
          <a:p>
            <a:pPr algn="just"/>
            <a:r>
              <a:rPr lang="en-US" sz="2600" b="1" dirty="0">
                <a:latin typeface="Times New Roman" panose="02020603050405020304" pitchFamily="18" charset="0"/>
                <a:cs typeface="Times New Roman" panose="02020603050405020304" pitchFamily="18" charset="0"/>
              </a:rPr>
              <a:t>Explain</a:t>
            </a:r>
            <a:r>
              <a:rPr lang="en-US" sz="2600" dirty="0">
                <a:latin typeface="Times New Roman" panose="02020603050405020304" pitchFamily="18" charset="0"/>
                <a:cs typeface="Times New Roman" panose="02020603050405020304" pitchFamily="18" charset="0"/>
              </a:rPr>
              <a:t> the principles and operational differences among key uninformed search algorithms: Depth-First Search (DFS), Depth-Limited Search (DLS), Iterative Deepening Depth-First Search (IDDFS), Uniform Cost Search (UCS), and Bidirectional Search.</a:t>
            </a:r>
          </a:p>
          <a:p>
            <a:pPr algn="just"/>
            <a:r>
              <a:rPr lang="en-US" sz="2600" b="1" dirty="0">
                <a:latin typeface="Times New Roman" panose="02020603050405020304" pitchFamily="18" charset="0"/>
                <a:cs typeface="Times New Roman" panose="02020603050405020304" pitchFamily="18" charset="0"/>
              </a:rPr>
              <a:t>Illustrate</a:t>
            </a:r>
            <a:r>
              <a:rPr lang="en-US" sz="2600" dirty="0">
                <a:latin typeface="Times New Roman" panose="02020603050405020304" pitchFamily="18" charset="0"/>
                <a:cs typeface="Times New Roman" panose="02020603050405020304" pitchFamily="18" charset="0"/>
              </a:rPr>
              <a:t> the working process of each uninformed search algorithm using appropriate graph representations and node expansion sequences.</a:t>
            </a:r>
          </a:p>
          <a:p>
            <a:pPr algn="just"/>
            <a:r>
              <a:rPr lang="en-US" sz="2600" b="1" dirty="0">
                <a:latin typeface="Times New Roman" panose="02020603050405020304" pitchFamily="18" charset="0"/>
                <a:cs typeface="Times New Roman" panose="02020603050405020304" pitchFamily="18" charset="0"/>
              </a:rPr>
              <a:t>Implement</a:t>
            </a:r>
            <a:r>
              <a:rPr lang="en-US" sz="2600" dirty="0">
                <a:latin typeface="Times New Roman" panose="02020603050405020304" pitchFamily="18" charset="0"/>
                <a:cs typeface="Times New Roman" panose="02020603050405020304" pitchFamily="18" charset="0"/>
              </a:rPr>
              <a:t> each of the five algorithms in Python (on Google </a:t>
            </a:r>
            <a:r>
              <a:rPr lang="en-US" sz="2600" dirty="0" err="1">
                <a:latin typeface="Times New Roman" panose="02020603050405020304" pitchFamily="18" charset="0"/>
                <a:cs typeface="Times New Roman" panose="02020603050405020304" pitchFamily="18" charset="0"/>
              </a:rPr>
              <a:t>Colab</a:t>
            </a:r>
            <a:r>
              <a:rPr lang="en-US" sz="2600" dirty="0">
                <a:latin typeface="Times New Roman" panose="02020603050405020304" pitchFamily="18" charset="0"/>
                <a:cs typeface="Times New Roman" panose="02020603050405020304" pitchFamily="18" charset="0"/>
              </a:rPr>
              <a:t>), correctly using appropriate data structures such as stacks, queues, and priority queues.</a:t>
            </a:r>
          </a:p>
          <a:p>
            <a:pPr algn="just"/>
            <a:r>
              <a:rPr lang="en-US" sz="2600" b="1" dirty="0">
                <a:latin typeface="Times New Roman" panose="02020603050405020304" pitchFamily="18" charset="0"/>
                <a:cs typeface="Times New Roman" panose="02020603050405020304" pitchFamily="18" charset="0"/>
              </a:rPr>
              <a:t>Compare and analyze</a:t>
            </a:r>
            <a:r>
              <a:rPr lang="en-US" sz="2600" dirty="0">
                <a:latin typeface="Times New Roman" panose="02020603050405020304" pitchFamily="18" charset="0"/>
                <a:cs typeface="Times New Roman" panose="02020603050405020304" pitchFamily="18" charset="0"/>
              </a:rPr>
              <a:t> the performance of the algorithms in terms of </a:t>
            </a:r>
            <a:r>
              <a:rPr lang="en-US" sz="2600" b="1" dirty="0">
                <a:latin typeface="Times New Roman" panose="02020603050405020304" pitchFamily="18" charset="0"/>
                <a:cs typeface="Times New Roman" panose="02020603050405020304" pitchFamily="18" charset="0"/>
              </a:rPr>
              <a:t>completeness, optimality, time complexity, and space complexity</a:t>
            </a:r>
            <a:r>
              <a:rPr lang="en-US" sz="2600" dirty="0">
                <a:latin typeface="Times New Roman" panose="02020603050405020304" pitchFamily="18" charset="0"/>
                <a:cs typeface="Times New Roman" panose="02020603050405020304" pitchFamily="18" charset="0"/>
              </a:rPr>
              <a:t>.</a:t>
            </a:r>
          </a:p>
          <a:p>
            <a:pPr algn="just"/>
            <a:r>
              <a:rPr lang="en-US" sz="2600" b="1" dirty="0">
                <a:latin typeface="Times New Roman" panose="02020603050405020304" pitchFamily="18" charset="0"/>
                <a:cs typeface="Times New Roman" panose="02020603050405020304" pitchFamily="18" charset="0"/>
              </a:rPr>
              <a:t>Apply</a:t>
            </a:r>
            <a:r>
              <a:rPr lang="en-US" sz="2600" dirty="0">
                <a:latin typeface="Times New Roman" panose="02020603050405020304" pitchFamily="18" charset="0"/>
                <a:cs typeface="Times New Roman" panose="02020603050405020304" pitchFamily="18" charset="0"/>
              </a:rPr>
              <a:t> the algorithms to practical problem scenarios such as route finding, network traversal, and decision-tree exploration to identify suitable algorithms for different conditions.</a:t>
            </a:r>
          </a:p>
          <a:p>
            <a:pPr algn="just"/>
            <a:r>
              <a:rPr lang="en-US" sz="2600" b="1" dirty="0">
                <a:latin typeface="Times New Roman" panose="02020603050405020304" pitchFamily="18" charset="0"/>
                <a:cs typeface="Times New Roman" panose="02020603050405020304" pitchFamily="18" charset="0"/>
              </a:rPr>
              <a:t>Evaluate and justify</a:t>
            </a:r>
            <a:r>
              <a:rPr lang="en-US" sz="2600" dirty="0">
                <a:latin typeface="Times New Roman" panose="02020603050405020304" pitchFamily="18" charset="0"/>
                <a:cs typeface="Times New Roman" panose="02020603050405020304" pitchFamily="18" charset="0"/>
              </a:rPr>
              <a:t> the choice of a specific uninformed search strategy based on problem constraints such as memory limitation, search depth, or cost structure.</a:t>
            </a:r>
          </a:p>
          <a:p>
            <a:pPr marL="0" indent="0" algn="just">
              <a:buNone/>
            </a:pPr>
            <a:endParaRPr lang="en-US" sz="2600" dirty="0">
              <a:latin typeface="Times New Roman" panose="02020603050405020304" pitchFamily="18" charset="0"/>
              <a:cs typeface="Times New Roman" panose="02020603050405020304" pitchFamily="18" charset="0"/>
            </a:endParaRP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664579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717B20-316B-05A9-E47B-CE397DC10687}"/>
              </a:ext>
            </a:extLst>
          </p:cNvPr>
          <p:cNvSpPr>
            <a:spLocks noGrp="1"/>
          </p:cNvSpPr>
          <p:nvPr>
            <p:ph idx="1"/>
          </p:nvPr>
        </p:nvSpPr>
        <p:spPr>
          <a:xfrm>
            <a:off x="254833" y="239843"/>
            <a:ext cx="11752288" cy="6400800"/>
          </a:xfrm>
        </p:spPr>
        <p:txBody>
          <a:bodyPr/>
          <a:lstStyle/>
          <a:p>
            <a:pPr marL="0" indent="0" algn="ctr" fontAlgn="base">
              <a:buNone/>
            </a:pPr>
            <a:r>
              <a:rPr lang="en-US" b="1" dirty="0"/>
              <a:t>Depth-First Search (DFS)</a:t>
            </a:r>
          </a:p>
          <a:p>
            <a:pPr marL="0" indent="0" algn="just" fontAlgn="base">
              <a:buNone/>
            </a:pPr>
            <a:r>
              <a:rPr lang="en-US" dirty="0"/>
              <a:t>DFS explores as far as possible along each branch of a search tree path before backtracking. It uses a stack (LIFO) and is more memory-efficient than Breadth-First Search (BFS) but does not guarantee the shortest path. </a:t>
            </a:r>
          </a:p>
          <a:p>
            <a:pPr marL="0" indent="0" fontAlgn="base">
              <a:buNone/>
            </a:pPr>
            <a:r>
              <a:rPr lang="en-US" b="1" dirty="0"/>
              <a:t>Key Features</a:t>
            </a:r>
            <a:endParaRPr lang="en-US" dirty="0"/>
          </a:p>
          <a:p>
            <a:pPr fontAlgn="base"/>
            <a:r>
              <a:rPr lang="en-US" dirty="0"/>
              <a:t>Efficient for deep exploration.</a:t>
            </a:r>
          </a:p>
          <a:p>
            <a:pPr fontAlgn="base"/>
            <a:r>
              <a:rPr lang="en-US" dirty="0"/>
              <a:t>Can get stuck in infinite loops if cycles exist</a:t>
            </a:r>
          </a:p>
          <a:p>
            <a:pPr fontAlgn="base"/>
            <a:r>
              <a:rPr lang="en-US" dirty="0"/>
              <a:t>It uses a </a:t>
            </a:r>
            <a:r>
              <a:rPr lang="en-US" b="1" dirty="0"/>
              <a:t>stack (LIFO)</a:t>
            </a:r>
            <a:r>
              <a:rPr lang="en-US" dirty="0"/>
              <a:t> structure</a:t>
            </a:r>
          </a:p>
          <a:p>
            <a:pPr marL="0" indent="0" fontAlgn="base">
              <a:buNone/>
            </a:pPr>
            <a:endParaRPr lang="en-US" dirty="0"/>
          </a:p>
          <a:p>
            <a:pPr marL="0" indent="0">
              <a:buNone/>
            </a:pPr>
            <a:endParaRPr lang="en-US" dirty="0"/>
          </a:p>
        </p:txBody>
      </p:sp>
    </p:spTree>
    <p:extLst>
      <p:ext uri="{BB962C8B-B14F-4D97-AF65-F5344CB8AC3E}">
        <p14:creationId xmlns:p14="http://schemas.microsoft.com/office/powerpoint/2010/main" val="6023053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6FE7A7-3F94-D168-90BF-BF1E1C0CB144}"/>
              </a:ext>
            </a:extLst>
          </p:cNvPr>
          <p:cNvSpPr>
            <a:spLocks noGrp="1"/>
          </p:cNvSpPr>
          <p:nvPr>
            <p:ph idx="1"/>
          </p:nvPr>
        </p:nvSpPr>
        <p:spPr>
          <a:xfrm>
            <a:off x="104931" y="164892"/>
            <a:ext cx="11902190" cy="6550701"/>
          </a:xfrm>
        </p:spPr>
        <p:txBody>
          <a:bodyPr/>
          <a:lstStyle/>
          <a:p>
            <a:pPr marL="0" indent="0">
              <a:buNone/>
            </a:pPr>
            <a:r>
              <a:rPr lang="en-US" dirty="0"/>
              <a:t>BFS </a:t>
            </a:r>
            <a:r>
              <a:rPr lang="en-US" dirty="0" err="1"/>
              <a:t>Psudocode</a:t>
            </a:r>
            <a:endParaRPr lang="en-US" dirty="0"/>
          </a:p>
          <a:p>
            <a:pPr marL="0" indent="0">
              <a:buNone/>
            </a:pPr>
            <a:r>
              <a:rPr lang="en-US" dirty="0"/>
              <a:t>DFS(start, goal):</a:t>
            </a:r>
          </a:p>
          <a:p>
            <a:pPr marL="0" indent="0">
              <a:buNone/>
            </a:pPr>
            <a:r>
              <a:rPr lang="en-US" dirty="0"/>
              <a:t>    create a stack S</a:t>
            </a:r>
          </a:p>
          <a:p>
            <a:pPr marL="0" indent="0">
              <a:buNone/>
            </a:pPr>
            <a:r>
              <a:rPr lang="en-US" dirty="0"/>
              <a:t>    push start to S</a:t>
            </a:r>
          </a:p>
          <a:p>
            <a:pPr marL="0" indent="0">
              <a:buNone/>
            </a:pPr>
            <a:r>
              <a:rPr lang="en-US" dirty="0"/>
              <a:t>    create a visited set</a:t>
            </a:r>
          </a:p>
          <a:p>
            <a:pPr marL="0" indent="0">
              <a:buNone/>
            </a:pPr>
            <a:r>
              <a:rPr lang="en-US" dirty="0"/>
              <a:t>    while S is not empty:</a:t>
            </a:r>
          </a:p>
          <a:p>
            <a:pPr marL="0" indent="0">
              <a:buNone/>
            </a:pPr>
            <a:r>
              <a:rPr lang="en-US" dirty="0"/>
              <a:t>        node = </a:t>
            </a:r>
            <a:r>
              <a:rPr lang="en-US" dirty="0" err="1"/>
              <a:t>S.pop</a:t>
            </a:r>
            <a:r>
              <a:rPr lang="en-US" dirty="0"/>
              <a:t>()</a:t>
            </a:r>
          </a:p>
          <a:p>
            <a:pPr marL="0" indent="0">
              <a:buNone/>
            </a:pPr>
            <a:r>
              <a:rPr lang="en-US" dirty="0"/>
              <a:t>        if node == goal: return path</a:t>
            </a:r>
          </a:p>
          <a:p>
            <a:pPr marL="0" indent="0">
              <a:buNone/>
            </a:pPr>
            <a:r>
              <a:rPr lang="en-US" dirty="0"/>
              <a:t>        if node not in visited:</a:t>
            </a:r>
          </a:p>
          <a:p>
            <a:pPr marL="0" indent="0">
              <a:buNone/>
            </a:pPr>
            <a:r>
              <a:rPr lang="en-US" dirty="0"/>
              <a:t>            mark node as visited</a:t>
            </a:r>
          </a:p>
          <a:p>
            <a:pPr marL="0" indent="0">
              <a:buNone/>
            </a:pPr>
            <a:r>
              <a:rPr lang="en-US" dirty="0"/>
              <a:t>            push all unvisited neighbors of node onto S</a:t>
            </a:r>
          </a:p>
        </p:txBody>
      </p:sp>
    </p:spTree>
    <p:extLst>
      <p:ext uri="{BB962C8B-B14F-4D97-AF65-F5344CB8AC3E}">
        <p14:creationId xmlns:p14="http://schemas.microsoft.com/office/powerpoint/2010/main" val="2741027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031637-1F66-A7E5-C698-886021F840EC}"/>
              </a:ext>
            </a:extLst>
          </p:cNvPr>
          <p:cNvSpPr>
            <a:spLocks noGrp="1"/>
          </p:cNvSpPr>
          <p:nvPr>
            <p:ph idx="1"/>
          </p:nvPr>
        </p:nvSpPr>
        <p:spPr>
          <a:xfrm>
            <a:off x="164891" y="194872"/>
            <a:ext cx="11857219" cy="6520721"/>
          </a:xfrm>
        </p:spPr>
        <p:txBody>
          <a:bodyPr/>
          <a:lstStyle/>
          <a:p>
            <a:pPr marL="0" indent="0">
              <a:buNone/>
            </a:pPr>
            <a:r>
              <a:rPr lang="en-US" b="1" dirty="0"/>
              <a:t>Algorithm Steps</a:t>
            </a:r>
          </a:p>
          <a:p>
            <a:r>
              <a:rPr lang="en-US" dirty="0"/>
              <a:t>Start at the initial node and push it onto the stack.</a:t>
            </a:r>
          </a:p>
          <a:p>
            <a:r>
              <a:rPr lang="en-US" dirty="0"/>
              <a:t>Pop the top node.</a:t>
            </a:r>
          </a:p>
          <a:p>
            <a:r>
              <a:rPr lang="en-US" dirty="0"/>
              <a:t>If it’s the goal, return the solution.</a:t>
            </a:r>
          </a:p>
          <a:p>
            <a:r>
              <a:rPr lang="en-US" dirty="0"/>
              <a:t>Otherwise, expand the node — generate all successors.</a:t>
            </a:r>
          </a:p>
          <a:p>
            <a:r>
              <a:rPr lang="en-US" dirty="0"/>
              <a:t>Push all unvisited successors onto the stack.</a:t>
            </a:r>
          </a:p>
          <a:p>
            <a:r>
              <a:rPr lang="en-US" dirty="0"/>
              <a:t>Repeat until the stack is empty or the goal is found.</a:t>
            </a:r>
          </a:p>
          <a:p>
            <a:pPr marL="0" indent="0">
              <a:buNone/>
            </a:pPr>
            <a:r>
              <a:rPr lang="en-US" b="1" dirty="0"/>
              <a:t>How it Works (Example)</a:t>
            </a:r>
          </a:p>
          <a:p>
            <a:pPr marL="0" indent="0">
              <a:buNone/>
            </a:pPr>
            <a:r>
              <a:rPr lang="en-US" dirty="0"/>
              <a:t>Imagine searching for a target city in a map:</a:t>
            </a:r>
          </a:p>
          <a:p>
            <a:pPr marL="0" indent="0">
              <a:buNone/>
            </a:pPr>
            <a:r>
              <a:rPr lang="en-US" dirty="0"/>
              <a:t>DFS goes </a:t>
            </a:r>
            <a:r>
              <a:rPr lang="en-US" b="1" dirty="0"/>
              <a:t>deep</a:t>
            </a:r>
            <a:r>
              <a:rPr lang="en-US" dirty="0"/>
              <a:t> along one path (e.g., Lagos → Ibadan → Ilorin → ...).</a:t>
            </a:r>
          </a:p>
          <a:p>
            <a:r>
              <a:rPr lang="en-US" dirty="0"/>
              <a:t>If it reaches a dead end, it </a:t>
            </a:r>
            <a:r>
              <a:rPr lang="en-US" b="1" dirty="0"/>
              <a:t>backtracks</a:t>
            </a:r>
            <a:r>
              <a:rPr lang="en-US" dirty="0"/>
              <a:t> to the previous city and tries another route.</a:t>
            </a:r>
          </a:p>
          <a:p>
            <a:pPr marL="0" indent="0">
              <a:buNone/>
            </a:pPr>
            <a:endParaRPr lang="en-US" dirty="0"/>
          </a:p>
        </p:txBody>
      </p:sp>
    </p:spTree>
    <p:extLst>
      <p:ext uri="{BB962C8B-B14F-4D97-AF65-F5344CB8AC3E}">
        <p14:creationId xmlns:p14="http://schemas.microsoft.com/office/powerpoint/2010/main" val="16804820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C61534-0E15-B9AB-3976-9E21971E65B6}"/>
              </a:ext>
            </a:extLst>
          </p:cNvPr>
          <p:cNvSpPr>
            <a:spLocks noGrp="1"/>
          </p:cNvSpPr>
          <p:nvPr>
            <p:ph idx="1"/>
          </p:nvPr>
        </p:nvSpPr>
        <p:spPr>
          <a:xfrm>
            <a:off x="209861" y="224852"/>
            <a:ext cx="11797259" cy="6460761"/>
          </a:xfrm>
        </p:spPr>
        <p:txBody>
          <a:bodyPr/>
          <a:lstStyle/>
          <a:p>
            <a:pPr marL="0" indent="0">
              <a:buNone/>
            </a:pPr>
            <a:r>
              <a:rPr lang="en-US" b="1" dirty="0"/>
              <a:t>Applications</a:t>
            </a:r>
          </a:p>
          <a:p>
            <a:r>
              <a:rPr lang="en-US" dirty="0"/>
              <a:t>Solving </a:t>
            </a:r>
            <a:r>
              <a:rPr lang="en-US" b="1" dirty="0"/>
              <a:t>mazes</a:t>
            </a:r>
            <a:r>
              <a:rPr lang="en-US" dirty="0"/>
              <a:t> or </a:t>
            </a:r>
            <a:r>
              <a:rPr lang="en-US" b="1" dirty="0"/>
              <a:t>puzzles</a:t>
            </a:r>
            <a:r>
              <a:rPr lang="en-US" dirty="0"/>
              <a:t> (e.g., n-Queens, Sudoku).</a:t>
            </a:r>
          </a:p>
          <a:p>
            <a:r>
              <a:rPr lang="en-US" b="1" dirty="0"/>
              <a:t>Pathfinding</a:t>
            </a:r>
            <a:r>
              <a:rPr lang="en-US" dirty="0"/>
              <a:t> where the solution is deep but not necessarily optimal.</a:t>
            </a:r>
          </a:p>
          <a:p>
            <a:r>
              <a:rPr lang="en-US" b="1" dirty="0"/>
              <a:t>Topological sorting</a:t>
            </a:r>
            <a:r>
              <a:rPr lang="en-US" dirty="0"/>
              <a:t> and </a:t>
            </a:r>
            <a:r>
              <a:rPr lang="en-US" b="1" dirty="0"/>
              <a:t>parsing expression trees</a:t>
            </a:r>
            <a:r>
              <a:rPr lang="en-US" dirty="0"/>
              <a:t>.</a:t>
            </a:r>
          </a:p>
          <a:p>
            <a:r>
              <a:rPr lang="en-US" b="1" dirty="0"/>
              <a:t>Web crawling</a:t>
            </a:r>
            <a:r>
              <a:rPr lang="en-US" dirty="0"/>
              <a:t> and </a:t>
            </a:r>
            <a:r>
              <a:rPr lang="en-US" b="1" dirty="0"/>
              <a:t>backtracking algorithms</a:t>
            </a:r>
            <a:r>
              <a:rPr lang="en-US" dirty="0"/>
              <a:t>.</a:t>
            </a:r>
          </a:p>
          <a:p>
            <a:endParaRPr lang="en-US" dirty="0"/>
          </a:p>
          <a:p>
            <a:pPr marL="0" indent="0">
              <a:buNone/>
            </a:pPr>
            <a:r>
              <a:rPr lang="en-US" dirty="0"/>
              <a:t>Let’s look at Puzzle Solving using BFS</a:t>
            </a:r>
          </a:p>
          <a:p>
            <a:pPr marL="0" indent="0">
              <a:buNone/>
            </a:pPr>
            <a:r>
              <a:rPr lang="en-US" dirty="0"/>
              <a:t>In puzzle solving, DFS is particularly useful for exploring all possible configurations or paths in problems where the solution depth is not too large.</a:t>
            </a:r>
          </a:p>
        </p:txBody>
      </p:sp>
    </p:spTree>
    <p:extLst>
      <p:ext uri="{BB962C8B-B14F-4D97-AF65-F5344CB8AC3E}">
        <p14:creationId xmlns:p14="http://schemas.microsoft.com/office/powerpoint/2010/main" val="4073106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7633ED-5CF6-4BC5-7D22-16A292D4DA8D}"/>
              </a:ext>
            </a:extLst>
          </p:cNvPr>
          <p:cNvSpPr>
            <a:spLocks noGrp="1"/>
          </p:cNvSpPr>
          <p:nvPr>
            <p:ph idx="1"/>
          </p:nvPr>
        </p:nvSpPr>
        <p:spPr>
          <a:xfrm>
            <a:off x="209861" y="194872"/>
            <a:ext cx="11767279" cy="6520721"/>
          </a:xfrm>
        </p:spPr>
        <p:txBody>
          <a:bodyPr>
            <a:normAutofit fontScale="85000" lnSpcReduction="20000"/>
          </a:bodyPr>
          <a:lstStyle/>
          <a:p>
            <a:pPr marL="0" indent="0">
              <a:buNone/>
            </a:pPr>
            <a:r>
              <a:rPr lang="en-US" b="1" dirty="0"/>
              <a:t>How DFS Works in Puzzle Solving</a:t>
            </a:r>
          </a:p>
          <a:p>
            <a:pPr marL="0" indent="0">
              <a:buNone/>
            </a:pPr>
            <a:r>
              <a:rPr lang="en-US" dirty="0"/>
              <a:t>DFS is typically implemented using a </a:t>
            </a:r>
            <a:r>
              <a:rPr lang="en-US" b="1" dirty="0"/>
              <a:t>stack</a:t>
            </a:r>
            <a:r>
              <a:rPr lang="en-US" dirty="0"/>
              <a:t> (either explicitly or via recursion). The idea is to:</a:t>
            </a:r>
          </a:p>
          <a:p>
            <a:r>
              <a:rPr lang="en-US" dirty="0"/>
              <a:t>Start from an initial state (e.g., the start of the puzzle).</a:t>
            </a:r>
          </a:p>
          <a:p>
            <a:r>
              <a:rPr lang="en-US" dirty="0"/>
              <a:t>Generate all possible next states (moves).</a:t>
            </a:r>
          </a:p>
          <a:p>
            <a:r>
              <a:rPr lang="en-US" dirty="0"/>
              <a:t>Choose one possible move and continue exploring </a:t>
            </a:r>
            <a:r>
              <a:rPr lang="en-US" b="1" dirty="0"/>
              <a:t>deeply</a:t>
            </a:r>
            <a:r>
              <a:rPr lang="en-US" dirty="0"/>
              <a:t> along that path.</a:t>
            </a:r>
          </a:p>
          <a:p>
            <a:r>
              <a:rPr lang="en-US" dirty="0"/>
              <a:t>If the current path reaches an invalid or dead-end state, </a:t>
            </a:r>
            <a:r>
              <a:rPr lang="en-US" b="1" dirty="0"/>
              <a:t>backtrack</a:t>
            </a:r>
            <a:r>
              <a:rPr lang="en-US" dirty="0"/>
              <a:t> and try another move.</a:t>
            </a:r>
          </a:p>
          <a:p>
            <a:r>
              <a:rPr lang="en-US" dirty="0"/>
              <a:t>Repeat until the goal state (solution) is found.</a:t>
            </a:r>
          </a:p>
          <a:p>
            <a:pPr marL="0" indent="0">
              <a:buNone/>
            </a:pPr>
            <a:br>
              <a:rPr lang="en-US" dirty="0"/>
            </a:br>
            <a:r>
              <a:rPr lang="en-US" b="1" dirty="0"/>
              <a:t>Example Puzzle – 8-Puzzle Problem</a:t>
            </a:r>
          </a:p>
          <a:p>
            <a:pPr marL="0" indent="0">
              <a:buNone/>
            </a:pPr>
            <a:r>
              <a:rPr lang="en-US" dirty="0"/>
              <a:t>The </a:t>
            </a:r>
            <a:r>
              <a:rPr lang="en-US" b="1" dirty="0"/>
              <a:t>8-puzzle</a:t>
            </a:r>
            <a:r>
              <a:rPr lang="en-US" dirty="0"/>
              <a:t> consists of a 3×3 grid with tiles numbered 1–8 and one blank space.</a:t>
            </a:r>
            <a:br>
              <a:rPr lang="en-US" dirty="0"/>
            </a:br>
            <a:r>
              <a:rPr lang="en-US" dirty="0"/>
              <a:t>The goal is to move the tiles around until they are arranged in a specific order (goal state).</a:t>
            </a:r>
          </a:p>
          <a:p>
            <a:pPr marL="0" indent="0">
              <a:buNone/>
            </a:pPr>
            <a:r>
              <a:rPr lang="en-US" b="1" dirty="0"/>
              <a:t>Initial State</a:t>
            </a:r>
          </a:p>
          <a:p>
            <a:pPr marL="0" indent="0">
              <a:buNone/>
            </a:pPr>
            <a:r>
              <a:rPr lang="en-US" dirty="0"/>
              <a:t>	1 2 3</a:t>
            </a:r>
          </a:p>
          <a:p>
            <a:pPr marL="0" indent="0">
              <a:buNone/>
            </a:pPr>
            <a:r>
              <a:rPr lang="en-US" dirty="0"/>
              <a:t>	4 0 6</a:t>
            </a:r>
          </a:p>
          <a:p>
            <a:pPr marL="0" indent="0">
              <a:buNone/>
            </a:pPr>
            <a:r>
              <a:rPr lang="en-US" dirty="0"/>
              <a:t>	7 5 8</a:t>
            </a:r>
          </a:p>
          <a:p>
            <a:pPr marL="0" indent="0">
              <a:buNone/>
            </a:pPr>
            <a:r>
              <a:rPr lang="en-US" dirty="0"/>
              <a:t>(0 represents the blank space)</a:t>
            </a:r>
          </a:p>
          <a:p>
            <a:pPr marL="0" indent="0">
              <a:buNone/>
            </a:pPr>
            <a:endParaRPr lang="en-US" dirty="0"/>
          </a:p>
        </p:txBody>
      </p:sp>
    </p:spTree>
    <p:extLst>
      <p:ext uri="{BB962C8B-B14F-4D97-AF65-F5344CB8AC3E}">
        <p14:creationId xmlns:p14="http://schemas.microsoft.com/office/powerpoint/2010/main" val="41398530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FCC281-90E9-5ECF-3CF1-69F728097B43}"/>
              </a:ext>
            </a:extLst>
          </p:cNvPr>
          <p:cNvSpPr>
            <a:spLocks noGrp="1"/>
          </p:cNvSpPr>
          <p:nvPr>
            <p:ph idx="1"/>
          </p:nvPr>
        </p:nvSpPr>
        <p:spPr>
          <a:xfrm>
            <a:off x="194871" y="149902"/>
            <a:ext cx="11827239" cy="6520721"/>
          </a:xfrm>
        </p:spPr>
        <p:txBody>
          <a:bodyPr/>
          <a:lstStyle/>
          <a:p>
            <a:pPr marL="0" indent="0">
              <a:buNone/>
            </a:pPr>
            <a:r>
              <a:rPr lang="en-US" b="1" dirty="0"/>
              <a:t>Goal State</a:t>
            </a:r>
          </a:p>
          <a:p>
            <a:pPr marL="0" indent="0">
              <a:buNone/>
            </a:pPr>
            <a:r>
              <a:rPr lang="en-US" dirty="0"/>
              <a:t>	1 2 3</a:t>
            </a:r>
          </a:p>
          <a:p>
            <a:pPr marL="0" indent="0">
              <a:buNone/>
            </a:pPr>
            <a:r>
              <a:rPr lang="en-US" dirty="0"/>
              <a:t>	4 5 6</a:t>
            </a:r>
          </a:p>
          <a:p>
            <a:pPr marL="0" indent="0">
              <a:buNone/>
            </a:pPr>
            <a:r>
              <a:rPr lang="en-US" dirty="0"/>
              <a:t>	7 8 0</a:t>
            </a:r>
          </a:p>
          <a:p>
            <a:pPr marL="0" indent="0">
              <a:buNone/>
            </a:pPr>
            <a:br>
              <a:rPr lang="en-US" dirty="0"/>
            </a:br>
            <a:r>
              <a:rPr lang="en-US" b="1" dirty="0"/>
              <a:t>DFS Algorithm Steps in the 8-Puzzle</a:t>
            </a:r>
          </a:p>
          <a:p>
            <a:r>
              <a:rPr lang="en-US" b="1" dirty="0"/>
              <a:t>Start with the initial configuration</a:t>
            </a:r>
            <a:r>
              <a:rPr lang="en-US" dirty="0"/>
              <a:t>.</a:t>
            </a:r>
          </a:p>
          <a:p>
            <a:r>
              <a:rPr lang="en-US" b="1" dirty="0"/>
              <a:t>Push</a:t>
            </a:r>
            <a:r>
              <a:rPr lang="en-US" dirty="0"/>
              <a:t> this configuration onto the stack.</a:t>
            </a:r>
          </a:p>
          <a:p>
            <a:r>
              <a:rPr lang="en-US" b="1" dirty="0"/>
              <a:t>Pop</a:t>
            </a:r>
            <a:r>
              <a:rPr lang="en-US" dirty="0"/>
              <a:t> the top configuration and check if it’s the goal.</a:t>
            </a:r>
          </a:p>
          <a:p>
            <a:r>
              <a:rPr lang="en-US" dirty="0"/>
              <a:t>If not, </a:t>
            </a:r>
            <a:r>
              <a:rPr lang="en-US" b="1" dirty="0"/>
              <a:t>generate all possible moves</a:t>
            </a:r>
            <a:r>
              <a:rPr lang="en-US" dirty="0"/>
              <a:t> (up, down, left, right of the blank).</a:t>
            </a:r>
          </a:p>
          <a:p>
            <a:r>
              <a:rPr lang="en-US" dirty="0"/>
              <a:t>For each new configuration not visited before, </a:t>
            </a:r>
            <a:r>
              <a:rPr lang="en-US" b="1" dirty="0"/>
              <a:t>push it onto the stack</a:t>
            </a:r>
            <a:r>
              <a:rPr lang="en-US" dirty="0"/>
              <a:t>.</a:t>
            </a:r>
          </a:p>
          <a:p>
            <a:r>
              <a:rPr lang="en-US" dirty="0"/>
              <a:t>Repeat until the stack is empty or goal is found.</a:t>
            </a:r>
          </a:p>
          <a:p>
            <a:pPr marL="0" indent="0">
              <a:buNone/>
            </a:pPr>
            <a:endParaRPr lang="en-US" dirty="0"/>
          </a:p>
        </p:txBody>
      </p:sp>
    </p:spTree>
    <p:extLst>
      <p:ext uri="{BB962C8B-B14F-4D97-AF65-F5344CB8AC3E}">
        <p14:creationId xmlns:p14="http://schemas.microsoft.com/office/powerpoint/2010/main" val="31277605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930724-DCC2-8B37-0FF1-DFDEA875C99A}"/>
              </a:ext>
            </a:extLst>
          </p:cNvPr>
          <p:cNvSpPr>
            <a:spLocks noGrp="1"/>
          </p:cNvSpPr>
          <p:nvPr>
            <p:ph idx="1"/>
          </p:nvPr>
        </p:nvSpPr>
        <p:spPr>
          <a:xfrm>
            <a:off x="269823" y="119921"/>
            <a:ext cx="11752288" cy="6580682"/>
          </a:xfrm>
        </p:spPr>
        <p:txBody>
          <a:bodyPr/>
          <a:lstStyle/>
          <a:p>
            <a:pPr marL="0" indent="0">
              <a:buNone/>
            </a:pPr>
            <a:r>
              <a:rPr lang="en-US" b="1" dirty="0"/>
              <a:t>Benefits of BFS</a:t>
            </a:r>
          </a:p>
          <a:p>
            <a:pPr marL="0" indent="0">
              <a:buNone/>
            </a:pPr>
            <a:r>
              <a:rPr lang="en-US" dirty="0"/>
              <a:t>Simple to implement using recursion or stack</a:t>
            </a:r>
            <a:br>
              <a:rPr lang="en-US" dirty="0"/>
            </a:br>
            <a:r>
              <a:rPr lang="en-US" dirty="0"/>
              <a:t>Requires less memory than BFS</a:t>
            </a:r>
            <a:br>
              <a:rPr lang="en-US" dirty="0"/>
            </a:br>
            <a:r>
              <a:rPr lang="en-US" dirty="0"/>
              <a:t>Can find a solution quickly if it lies deep in the tree</a:t>
            </a:r>
            <a:br>
              <a:rPr lang="en-US" dirty="0"/>
            </a:br>
            <a:r>
              <a:rPr lang="en-US" dirty="0"/>
              <a:t>Useful for puzzles where solution depth is known or small</a:t>
            </a:r>
          </a:p>
          <a:p>
            <a:pPr marL="0" indent="0">
              <a:buNone/>
            </a:pPr>
            <a:endParaRPr lang="en-US" dirty="0"/>
          </a:p>
          <a:p>
            <a:pPr marL="0" indent="0">
              <a:buNone/>
            </a:pPr>
            <a:r>
              <a:rPr lang="en-US" b="1" dirty="0"/>
              <a:t>Limitations</a:t>
            </a:r>
          </a:p>
          <a:p>
            <a:pPr marL="0" indent="0">
              <a:buNone/>
            </a:pPr>
            <a:r>
              <a:rPr lang="en-US" dirty="0"/>
              <a:t>May get trapped in deep infinite paths if not managed with visited states</a:t>
            </a:r>
            <a:br>
              <a:rPr lang="en-US" dirty="0"/>
            </a:br>
            <a:r>
              <a:rPr lang="en-US" dirty="0"/>
              <a:t>Not guaranteed to find the shortest solution</a:t>
            </a:r>
            <a:br>
              <a:rPr lang="en-US" dirty="0"/>
            </a:br>
            <a:r>
              <a:rPr lang="en-US" dirty="0"/>
              <a:t>Inefficient for puzzles with very large state spaces</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5608116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19843AF-9ADE-2EC0-4A14-033B8D413056}"/>
                  </a:ext>
                </a:extLst>
              </p:cNvPr>
              <p:cNvSpPr>
                <a:spLocks noGrp="1"/>
              </p:cNvSpPr>
              <p:nvPr>
                <p:ph idx="1"/>
              </p:nvPr>
            </p:nvSpPr>
            <p:spPr>
              <a:xfrm>
                <a:off x="194872" y="149902"/>
                <a:ext cx="11722308" cy="6580682"/>
              </a:xfrm>
            </p:spPr>
            <p:txBody>
              <a:bodyPr>
                <a:normAutofit fontScale="85000" lnSpcReduction="20000"/>
              </a:bodyPr>
              <a:lstStyle/>
              <a:p>
                <a:pPr marL="0" indent="0" algn="ctr">
                  <a:buNone/>
                </a:pPr>
                <a:r>
                  <a:rPr lang="en-US" b="1" dirty="0"/>
                  <a:t>Time and Space Complexity of Depth-First Search (DFS)</a:t>
                </a:r>
              </a:p>
              <a:p>
                <a:pPr marL="0" indent="0">
                  <a:buNone/>
                </a:pPr>
                <a:r>
                  <a:rPr lang="en-US" dirty="0"/>
                  <a:t>Depth-First Search explores all the </a:t>
                </a:r>
                <a:r>
                  <a:rPr lang="en-US" b="1" dirty="0"/>
                  <a:t>nodes (or states)</a:t>
                </a:r>
                <a:r>
                  <a:rPr lang="en-US" dirty="0"/>
                  <a:t> of a graph/tree </a:t>
                </a:r>
                <a:r>
                  <a:rPr lang="en-US" b="1" dirty="0"/>
                  <a:t>deeply</a:t>
                </a:r>
                <a:r>
                  <a:rPr lang="en-US" dirty="0"/>
                  <a:t>, visiting a node, then recursively exploring its children before backtracking.</a:t>
                </a:r>
              </a:p>
              <a:p>
                <a:pPr marL="0" indent="0">
                  <a:buNone/>
                </a:pPr>
                <a:r>
                  <a:rPr lang="en-US" dirty="0"/>
                  <a:t>To analyze its complexity, let’s define:</a:t>
                </a:r>
              </a:p>
              <a:p>
                <a:pPr marL="0" indent="0">
                  <a:buNone/>
                </a:pPr>
                <a:r>
                  <a:rPr lang="en-US" b="1" dirty="0"/>
                  <a:t>	b</a:t>
                </a:r>
                <a:r>
                  <a:rPr lang="en-US" dirty="0"/>
                  <a:t> = branching factor (average number of children per node)</a:t>
                </a:r>
              </a:p>
              <a:p>
                <a:pPr marL="0" indent="0">
                  <a:buNone/>
                </a:pPr>
                <a:r>
                  <a:rPr lang="en-US" b="1" dirty="0"/>
                  <a:t>	d</a:t>
                </a:r>
                <a:r>
                  <a:rPr lang="en-US" dirty="0"/>
                  <a:t> = depth of the search tree (maximum number of levels to explore)</a:t>
                </a:r>
              </a:p>
              <a:p>
                <a:pPr marL="0" indent="0">
                  <a:buNone/>
                </a:pPr>
                <a:r>
                  <a:rPr lang="en-US" b="1" dirty="0"/>
                  <a:t>	n</a:t>
                </a:r>
                <a:r>
                  <a:rPr lang="en-US" dirty="0"/>
                  <a:t> = number of vertices (in a graph)</a:t>
                </a:r>
              </a:p>
              <a:p>
                <a:pPr marL="0" indent="0">
                  <a:buNone/>
                </a:pPr>
                <a:r>
                  <a:rPr lang="en-US" b="1" dirty="0"/>
                  <a:t>	m</a:t>
                </a:r>
                <a:r>
                  <a:rPr lang="en-US" dirty="0"/>
                  <a:t> = number of edges (in a graph)</a:t>
                </a:r>
              </a:p>
              <a:p>
                <a:pPr marL="0" indent="0">
                  <a:buNone/>
                </a:pPr>
                <a:endParaRPr lang="en-US" b="1" dirty="0"/>
              </a:p>
              <a:p>
                <a:pPr marL="0" indent="0">
                  <a:buNone/>
                </a:pPr>
                <a:r>
                  <a:rPr lang="en-US" b="1" dirty="0"/>
                  <a:t> Time Complexity</a:t>
                </a:r>
              </a:p>
              <a:p>
                <a:pPr marL="0" indent="0">
                  <a:buNone/>
                </a:pPr>
                <a:r>
                  <a:rPr lang="en-US" b="1" dirty="0"/>
                  <a:t>Case 1: General Tree Search</a:t>
                </a:r>
              </a:p>
              <a:p>
                <a:pPr marL="0" indent="0">
                  <a:buNone/>
                </a:pPr>
                <a:r>
                  <a:rPr lang="en-US" dirty="0"/>
                  <a:t>If we consider DFS on a </a:t>
                </a:r>
                <a:r>
                  <a:rPr lang="en-US" b="1" dirty="0"/>
                  <a:t>tree</a:t>
                </a:r>
                <a:r>
                  <a:rPr lang="en-US" dirty="0"/>
                  <a:t> (like in puzzles or search trees):</a:t>
                </a:r>
              </a:p>
              <a:p>
                <a:pPr marL="0" indent="0">
                  <a:buNone/>
                </a:pPr>
                <a:r>
                  <a:rPr lang="en-US" dirty="0"/>
                  <a:t>At each level, DFS can generate up to </a:t>
                </a:r>
                <a:r>
                  <a:rPr lang="en-US" b="1" dirty="0"/>
                  <a:t>b</a:t>
                </a:r>
                <a:r>
                  <a:rPr lang="en-US" dirty="0"/>
                  <a:t> child nodes.</a:t>
                </a:r>
              </a:p>
              <a:p>
                <a:pPr marL="0" indent="0">
                  <a:buNone/>
                </a:pPr>
                <a:r>
                  <a:rPr lang="en-US" dirty="0"/>
                  <a:t>The total number of nodes that can be visited up to depth </a:t>
                </a:r>
                <a:r>
                  <a:rPr lang="en-US" b="1" dirty="0"/>
                  <a:t>d</a:t>
                </a:r>
                <a:r>
                  <a:rPr lang="en-US" dirty="0"/>
                  <a:t> is approximately:   </a:t>
                </a:r>
                <a14:m>
                  <m:oMath xmlns:m="http://schemas.openxmlformats.org/officeDocument/2006/math">
                    <m:r>
                      <a:rPr lang="en-US" i="1"/>
                      <m:t>𝑂</m:t>
                    </m:r>
                    <m:d>
                      <m:dPr>
                        <m:ctrlPr>
                          <a:rPr lang="ar-AE" i="1"/>
                        </m:ctrlPr>
                      </m:dPr>
                      <m:e>
                        <m:sSup>
                          <m:sSupPr>
                            <m:ctrlPr>
                              <a:rPr lang="ar-AE" i="1"/>
                            </m:ctrlPr>
                          </m:sSupPr>
                          <m:e>
                            <m:r>
                              <a:rPr lang="ar-AE" i="1"/>
                              <m:t>𝑏</m:t>
                            </m:r>
                          </m:e>
                          <m:sup>
                            <m:r>
                              <a:rPr lang="ar-AE" i="1"/>
                              <m:t>𝑑</m:t>
                            </m:r>
                          </m:sup>
                        </m:sSup>
                      </m:e>
                    </m:d>
                  </m:oMath>
                </a14:m>
                <a:endParaRPr lang="ar-AE" dirty="0"/>
              </a:p>
              <a:p>
                <a:pPr marL="0" indent="0">
                  <a:buNone/>
                </a:pPr>
                <a:r>
                  <a:rPr lang="en-US" dirty="0"/>
                  <a:t>So, </a:t>
                </a:r>
                <a:r>
                  <a:rPr lang="en-US" b="1" dirty="0"/>
                  <a:t>Time Complexity = O(</a:t>
                </a:r>
                <a:r>
                  <a:rPr lang="en-US" b="1" dirty="0" err="1"/>
                  <a:t>b^d</a:t>
                </a:r>
                <a:r>
                  <a:rPr lang="en-US" b="1" dirty="0"/>
                  <a:t>)</a:t>
                </a:r>
                <a:endParaRPr lang="en-US" dirty="0"/>
              </a:p>
              <a:p>
                <a:pPr marL="0" indent="0">
                  <a:buNone/>
                </a:pPr>
                <a:r>
                  <a:rPr lang="en-US" dirty="0"/>
                  <a:t>This means that the deeper the tree and the higher the branching factor, the longer DFS can take — because it explores every possible branch before stopping.</a:t>
                </a:r>
                <a:br>
                  <a:rPr lang="en-US" dirty="0"/>
                </a:br>
                <a:endParaRPr lang="en-US" dirty="0"/>
              </a:p>
              <a:p>
                <a:pPr marL="0" indent="0">
                  <a:buNone/>
                </a:pPr>
                <a:endParaRPr lang="en-US" dirty="0"/>
              </a:p>
            </p:txBody>
          </p:sp>
        </mc:Choice>
        <mc:Fallback>
          <p:sp>
            <p:nvSpPr>
              <p:cNvPr id="3" name="Content Placeholder 2">
                <a:extLst>
                  <a:ext uri="{FF2B5EF4-FFF2-40B4-BE49-F238E27FC236}">
                    <a16:creationId xmlns:a16="http://schemas.microsoft.com/office/drawing/2014/main" id="{619843AF-9ADE-2EC0-4A14-033B8D413056}"/>
                  </a:ext>
                </a:extLst>
              </p:cNvPr>
              <p:cNvSpPr>
                <a:spLocks noGrp="1" noRot="1" noChangeAspect="1" noMove="1" noResize="1" noEditPoints="1" noAdjustHandles="1" noChangeArrowheads="1" noChangeShapeType="1" noTextEdit="1"/>
              </p:cNvSpPr>
              <p:nvPr>
                <p:ph idx="1"/>
              </p:nvPr>
            </p:nvSpPr>
            <p:spPr>
              <a:xfrm>
                <a:off x="194872" y="149902"/>
                <a:ext cx="11722308" cy="6580682"/>
              </a:xfrm>
              <a:blipFill>
                <a:blip r:embed="rId2"/>
                <a:stretch>
                  <a:fillRect l="-832" t="-2039"/>
                </a:stretch>
              </a:blipFill>
            </p:spPr>
            <p:txBody>
              <a:bodyPr/>
              <a:lstStyle/>
              <a:p>
                <a:r>
                  <a:rPr lang="en-US">
                    <a:noFill/>
                  </a:rPr>
                  <a:t> </a:t>
                </a:r>
              </a:p>
            </p:txBody>
          </p:sp>
        </mc:Fallback>
      </mc:AlternateContent>
    </p:spTree>
    <p:extLst>
      <p:ext uri="{BB962C8B-B14F-4D97-AF65-F5344CB8AC3E}">
        <p14:creationId xmlns:p14="http://schemas.microsoft.com/office/powerpoint/2010/main" val="37346697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A741DDA-B5DF-52B8-1E72-9F82508708F1}"/>
                  </a:ext>
                </a:extLst>
              </p:cNvPr>
              <p:cNvSpPr>
                <a:spLocks noGrp="1"/>
              </p:cNvSpPr>
              <p:nvPr>
                <p:ph idx="1"/>
              </p:nvPr>
            </p:nvSpPr>
            <p:spPr>
              <a:xfrm>
                <a:off x="179881" y="194872"/>
                <a:ext cx="11827239" cy="6490741"/>
              </a:xfrm>
            </p:spPr>
            <p:txBody>
              <a:bodyPr>
                <a:normAutofit fontScale="92500" lnSpcReduction="20000"/>
              </a:bodyPr>
              <a:lstStyle/>
              <a:p>
                <a:pPr marL="0" indent="0">
                  <a:buNone/>
                </a:pPr>
                <a:r>
                  <a:rPr lang="en-US" b="1" dirty="0"/>
                  <a:t>Case 2: Graph Search</a:t>
                </a:r>
              </a:p>
              <a:p>
                <a:pPr marL="0" indent="0">
                  <a:buNone/>
                </a:pPr>
                <a:r>
                  <a:rPr lang="en-US" dirty="0"/>
                  <a:t>If the search space is a </a:t>
                </a:r>
                <a:r>
                  <a:rPr lang="en-US" b="1" dirty="0"/>
                  <a:t>graph</a:t>
                </a:r>
                <a:r>
                  <a:rPr lang="en-US" dirty="0"/>
                  <a:t> with </a:t>
                </a:r>
                <a:r>
                  <a:rPr lang="en-US" b="1" dirty="0"/>
                  <a:t>n</a:t>
                </a:r>
                <a:r>
                  <a:rPr lang="en-US" dirty="0"/>
                  <a:t> vertices and </a:t>
                </a:r>
                <a:r>
                  <a:rPr lang="en-US" b="1" dirty="0"/>
                  <a:t>m</a:t>
                </a:r>
                <a:r>
                  <a:rPr lang="en-US" dirty="0"/>
                  <a:t> edges:</a:t>
                </a:r>
              </a:p>
              <a:p>
                <a:pPr marL="0" indent="0">
                  <a:buNone/>
                </a:pPr>
                <a:r>
                  <a:rPr lang="en-US" dirty="0"/>
                  <a:t>DFS visits each vertex and edge </a:t>
                </a:r>
                <a:r>
                  <a:rPr lang="en-US" b="1" dirty="0"/>
                  <a:t>once</a:t>
                </a:r>
                <a:r>
                  <a:rPr lang="en-US" dirty="0"/>
                  <a:t>.</a:t>
                </a:r>
              </a:p>
              <a:p>
                <a:pPr marL="0" indent="0">
                  <a:buNone/>
                </a:pPr>
                <a14:m>
                  <m:oMathPara xmlns:m="http://schemas.openxmlformats.org/officeDocument/2006/math">
                    <m:oMathParaPr>
                      <m:jc m:val="centerGroup"/>
                    </m:oMathParaPr>
                    <m:oMath xmlns:m="http://schemas.openxmlformats.org/officeDocument/2006/math">
                      <m:r>
                        <m:rPr>
                          <m:nor/>
                        </m:rPr>
                        <a:rPr lang="en-US"/>
                        <m:t>Time</m:t>
                      </m:r>
                      <m:r>
                        <m:rPr>
                          <m:nor/>
                        </m:rPr>
                        <a:rPr lang="en-US" i="1"/>
                        <m:t> </m:t>
                      </m:r>
                      <m:r>
                        <m:rPr>
                          <m:nor/>
                        </m:rPr>
                        <a:rPr lang="en-US" i="1"/>
                        <m:t>Complexity</m:t>
                      </m:r>
                      <m:r>
                        <a:rPr lang="en-US">
                          <a:latin typeface="Cambria Math" panose="02040503050406030204" pitchFamily="18" charset="0"/>
                        </a:rPr>
                        <m:t>=</m:t>
                      </m:r>
                      <m:r>
                        <a:rPr lang="en-US" i="1">
                          <a:latin typeface="Cambria Math" panose="02040503050406030204" pitchFamily="18" charset="0"/>
                        </a:rPr>
                        <m:t>𝑂</m:t>
                      </m:r>
                      <m:d>
                        <m:dPr>
                          <m:ctrlPr>
                            <a:rPr lang="ar-AE" i="1">
                              <a:latin typeface="Cambria Math" panose="02040503050406030204" pitchFamily="18" charset="0"/>
                            </a:rPr>
                          </m:ctrlPr>
                        </m:dPr>
                        <m:e>
                          <m:r>
                            <a:rPr lang="ar-AE" i="1">
                              <a:latin typeface="Cambria Math" panose="02040503050406030204" pitchFamily="18" charset="0"/>
                            </a:rPr>
                            <m:t>𝑉</m:t>
                          </m:r>
                          <m:r>
                            <a:rPr lang="ar-AE">
                              <a:latin typeface="Cambria Math" panose="02040503050406030204" pitchFamily="18" charset="0"/>
                            </a:rPr>
                            <m:t>+</m:t>
                          </m:r>
                          <m:r>
                            <a:rPr lang="ar-AE" i="1">
                              <a:latin typeface="Cambria Math" panose="02040503050406030204" pitchFamily="18" charset="0"/>
                            </a:rPr>
                            <m:t>𝐸</m:t>
                          </m:r>
                        </m:e>
                      </m:d>
                    </m:oMath>
                  </m:oMathPara>
                </a14:m>
                <a:endParaRPr lang="ar-AE" dirty="0"/>
              </a:p>
              <a:p>
                <a:pPr marL="0" indent="0">
                  <a:buNone/>
                </a:pPr>
                <a:r>
                  <a:rPr lang="en-US" dirty="0"/>
                  <a:t>This applies when using an adjacency list representation and a visited list to prevent revisiting nodes.</a:t>
                </a:r>
                <a:r>
                  <a:rPr lang="en-US" b="1" dirty="0"/>
                  <a:t> </a:t>
                </a:r>
              </a:p>
              <a:p>
                <a:endParaRPr lang="en-US" b="1" dirty="0"/>
              </a:p>
              <a:p>
                <a:pPr marL="0" indent="0" algn="ctr">
                  <a:buNone/>
                </a:pPr>
                <a:r>
                  <a:rPr lang="en-US" b="1" dirty="0"/>
                  <a:t>Space Complexity</a:t>
                </a:r>
              </a:p>
              <a:p>
                <a:pPr marL="0" indent="0">
                  <a:buNone/>
                </a:pPr>
                <a:r>
                  <a:rPr lang="en-US" dirty="0"/>
                  <a:t>DFS requires memory to store:</a:t>
                </a:r>
              </a:p>
              <a:p>
                <a:pPr marL="0" indent="0">
                  <a:buNone/>
                </a:pPr>
                <a:r>
                  <a:rPr lang="en-US" dirty="0"/>
                  <a:t>The </a:t>
                </a:r>
                <a:r>
                  <a:rPr lang="en-US" b="1" dirty="0"/>
                  <a:t>recursion stack</a:t>
                </a:r>
                <a:r>
                  <a:rPr lang="en-US" dirty="0"/>
                  <a:t> (or explicit stack for iterative DFS).</a:t>
                </a:r>
              </a:p>
              <a:p>
                <a:pPr marL="0" indent="0">
                  <a:buNone/>
                </a:pPr>
                <a:r>
                  <a:rPr lang="en-US" dirty="0"/>
                  <a:t>The </a:t>
                </a:r>
                <a:r>
                  <a:rPr lang="en-US" b="1" dirty="0"/>
                  <a:t>visited nodes list</a:t>
                </a:r>
                <a:r>
                  <a:rPr lang="en-US" dirty="0"/>
                  <a:t> (to prevent infinite loops in a graph).</a:t>
                </a:r>
              </a:p>
              <a:p>
                <a:pPr marL="0" indent="0">
                  <a:buNone/>
                </a:pPr>
                <a:r>
                  <a:rPr lang="en-US" b="1" dirty="0"/>
                  <a:t>Case 1: Tree Search</a:t>
                </a:r>
              </a:p>
              <a:p>
                <a:pPr marL="0" indent="0">
                  <a:buNone/>
                </a:pPr>
                <a:r>
                  <a:rPr lang="en-US" dirty="0"/>
                  <a:t>DFS explores one branch at a time — meaning it only keeps track of nodes </a:t>
                </a:r>
                <a:r>
                  <a:rPr lang="en-US" b="1" dirty="0"/>
                  <a:t>along the current path</a:t>
                </a:r>
                <a:r>
                  <a:rPr lang="en-US" dirty="0"/>
                  <a:t> plus their siblings.</a:t>
                </a:r>
              </a:p>
              <a:p>
                <a:pPr marL="0" indent="0">
                  <a:buNone/>
                </a:pPr>
                <a14:m>
                  <m:oMathPara xmlns:m="http://schemas.openxmlformats.org/officeDocument/2006/math">
                    <m:oMathParaPr>
                      <m:jc m:val="centerGroup"/>
                    </m:oMathParaPr>
                    <m:oMath xmlns:m="http://schemas.openxmlformats.org/officeDocument/2006/math">
                      <m:r>
                        <m:rPr>
                          <m:nor/>
                        </m:rPr>
                        <a:rPr lang="en-US" b="0"/>
                        <m:t>Space</m:t>
                      </m:r>
                      <m:r>
                        <m:rPr>
                          <m:nor/>
                        </m:rPr>
                        <a:rPr lang="en-US" b="0" i="1"/>
                        <m:t> </m:t>
                      </m:r>
                      <m:r>
                        <m:rPr>
                          <m:nor/>
                        </m:rPr>
                        <a:rPr lang="en-US" b="0" i="1"/>
                        <m:t>Complexity</m:t>
                      </m:r>
                      <m:r>
                        <a:rPr lang="en-US"/>
                        <m:t>=</m:t>
                      </m:r>
                      <m:r>
                        <a:rPr lang="en-US" i="1"/>
                        <m:t>𝑂</m:t>
                      </m:r>
                      <m:d>
                        <m:dPr>
                          <m:ctrlPr>
                            <a:rPr lang="ar-AE" i="1"/>
                          </m:ctrlPr>
                        </m:dPr>
                        <m:e>
                          <m:r>
                            <a:rPr lang="ar-AE" i="1"/>
                            <m:t>𝑏𝑑</m:t>
                          </m:r>
                        </m:e>
                      </m:d>
                    </m:oMath>
                  </m:oMathPara>
                </a14:m>
                <a:endParaRPr lang="ar-AE" b="0" dirty="0"/>
              </a:p>
              <a:p>
                <a:pPr marL="0" indent="0">
                  <a:buNone/>
                </a:pPr>
                <a:r>
                  <a:rPr lang="en-US" dirty="0"/>
                  <a:t>Memory-efficient compared to BFS, which stores all nodes at a given level.</a:t>
                </a:r>
              </a:p>
              <a:p>
                <a:pPr marL="0" indent="0">
                  <a:buNone/>
                </a:pPr>
                <a:endParaRPr lang="en-US" dirty="0"/>
              </a:p>
              <a:p>
                <a:pPr marL="0" indent="0">
                  <a:buNone/>
                </a:pPr>
                <a:endParaRPr lang="en-US" dirty="0"/>
              </a:p>
            </p:txBody>
          </p:sp>
        </mc:Choice>
        <mc:Fallback>
          <p:sp>
            <p:nvSpPr>
              <p:cNvPr id="3" name="Content Placeholder 2">
                <a:extLst>
                  <a:ext uri="{FF2B5EF4-FFF2-40B4-BE49-F238E27FC236}">
                    <a16:creationId xmlns:a16="http://schemas.microsoft.com/office/drawing/2014/main" id="{0A741DDA-B5DF-52B8-1E72-9F82508708F1}"/>
                  </a:ext>
                </a:extLst>
              </p:cNvPr>
              <p:cNvSpPr>
                <a:spLocks noGrp="1" noRot="1" noChangeAspect="1" noMove="1" noResize="1" noEditPoints="1" noAdjustHandles="1" noChangeArrowheads="1" noChangeShapeType="1" noTextEdit="1"/>
              </p:cNvSpPr>
              <p:nvPr>
                <p:ph idx="1"/>
              </p:nvPr>
            </p:nvSpPr>
            <p:spPr>
              <a:xfrm>
                <a:off x="179881" y="194872"/>
                <a:ext cx="11827239" cy="6490741"/>
              </a:xfrm>
              <a:blipFill>
                <a:blip r:embed="rId2"/>
                <a:stretch>
                  <a:fillRect l="-928" t="-2347"/>
                </a:stretch>
              </a:blipFill>
            </p:spPr>
            <p:txBody>
              <a:bodyPr/>
              <a:lstStyle/>
              <a:p>
                <a:r>
                  <a:rPr lang="en-US">
                    <a:noFill/>
                  </a:rPr>
                  <a:t> </a:t>
                </a:r>
              </a:p>
            </p:txBody>
          </p:sp>
        </mc:Fallback>
      </mc:AlternateContent>
    </p:spTree>
    <p:extLst>
      <p:ext uri="{BB962C8B-B14F-4D97-AF65-F5344CB8AC3E}">
        <p14:creationId xmlns:p14="http://schemas.microsoft.com/office/powerpoint/2010/main" val="23857603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71092C1-7311-40BC-8FC7-02234CE7D440}"/>
                  </a:ext>
                </a:extLst>
              </p:cNvPr>
              <p:cNvSpPr>
                <a:spLocks noGrp="1"/>
              </p:cNvSpPr>
              <p:nvPr>
                <p:ph idx="1"/>
              </p:nvPr>
            </p:nvSpPr>
            <p:spPr>
              <a:xfrm>
                <a:off x="269823" y="194872"/>
                <a:ext cx="11752288" cy="6445771"/>
              </a:xfrm>
            </p:spPr>
            <p:txBody>
              <a:bodyPr/>
              <a:lstStyle/>
              <a:p>
                <a:pPr marL="0" indent="0">
                  <a:buNone/>
                </a:pPr>
                <a:r>
                  <a:rPr lang="en-US" b="1" dirty="0"/>
                  <a:t>Case 2: Graph Search</a:t>
                </a:r>
              </a:p>
              <a:p>
                <a:pPr marL="0" indent="0">
                  <a:buNone/>
                </a:pPr>
                <a:r>
                  <a:rPr lang="en-US" dirty="0"/>
                  <a:t>If storing all visited vertices:</a:t>
                </a:r>
              </a:p>
              <a:p>
                <a:pPr marL="0" indent="0">
                  <a:buNone/>
                </a:pPr>
                <a14:m>
                  <m:oMathPara xmlns:m="http://schemas.openxmlformats.org/officeDocument/2006/math">
                    <m:oMathParaPr>
                      <m:jc m:val="centerGroup"/>
                    </m:oMathParaPr>
                    <m:oMath xmlns:m="http://schemas.openxmlformats.org/officeDocument/2006/math">
                      <m:r>
                        <m:rPr>
                          <m:nor/>
                        </m:rPr>
                        <a:rPr lang="en-US" b="0"/>
                        <m:t>Space</m:t>
                      </m:r>
                      <m:r>
                        <m:rPr>
                          <m:nor/>
                        </m:rPr>
                        <a:rPr lang="en-US" b="0" i="1"/>
                        <m:t> </m:t>
                      </m:r>
                      <m:r>
                        <m:rPr>
                          <m:nor/>
                        </m:rPr>
                        <a:rPr lang="en-US" b="0" i="1"/>
                        <m:t>Complexity</m:t>
                      </m:r>
                      <m:r>
                        <a:rPr lang="en-US"/>
                        <m:t>=</m:t>
                      </m:r>
                      <m:r>
                        <a:rPr lang="en-US" i="1"/>
                        <m:t>𝑂</m:t>
                      </m:r>
                      <m:d>
                        <m:dPr>
                          <m:ctrlPr>
                            <a:rPr lang="ar-AE" i="1"/>
                          </m:ctrlPr>
                        </m:dPr>
                        <m:e>
                          <m:r>
                            <a:rPr lang="ar-AE" i="1"/>
                            <m:t>𝑉</m:t>
                          </m:r>
                        </m:e>
                      </m:d>
                    </m:oMath>
                  </m:oMathPara>
                </a14:m>
                <a:endParaRPr lang="ar-AE" b="0" dirty="0"/>
              </a:p>
              <a:p>
                <a:pPr marL="0" indent="0">
                  <a:buNone/>
                </a:pPr>
                <a:r>
                  <a:rPr lang="en-US" dirty="0"/>
                  <a:t>since all vertices might be marked as visited.</a:t>
                </a:r>
              </a:p>
              <a:p>
                <a:pPr marL="0" indent="0">
                  <a:buNone/>
                </a:pPr>
                <a:endParaRPr lang="en-US" dirty="0"/>
              </a:p>
              <a:p>
                <a:pPr marL="0" indent="0">
                  <a:buNone/>
                </a:pPr>
                <a:r>
                  <a:rPr lang="en-US" b="1" dirty="0"/>
                  <a:t>Note</a:t>
                </a:r>
              </a:p>
              <a:p>
                <a:pPr marL="0" indent="0">
                  <a:buNone/>
                </a:pPr>
                <a:r>
                  <a:rPr lang="en-US" dirty="0"/>
                  <a:t>DFS is </a:t>
                </a:r>
                <a:r>
                  <a:rPr lang="en-US" b="1" dirty="0"/>
                  <a:t>fast in narrow but deep</a:t>
                </a:r>
                <a:r>
                  <a:rPr lang="en-US" dirty="0"/>
                  <a:t> search trees.</a:t>
                </a:r>
              </a:p>
              <a:p>
                <a:pPr marL="0" indent="0">
                  <a:buNone/>
                </a:pPr>
                <a:r>
                  <a:rPr lang="en-US" dirty="0"/>
                  <a:t>It’s </a:t>
                </a:r>
                <a:r>
                  <a:rPr lang="en-US" b="1" dirty="0"/>
                  <a:t>slow and memory-safe</a:t>
                </a:r>
                <a:r>
                  <a:rPr lang="en-US" dirty="0"/>
                  <a:t>, unlike BFS which needs huge memory.</a:t>
                </a:r>
              </a:p>
              <a:p>
                <a:pPr marL="0" indent="0">
                  <a:buNone/>
                </a:pPr>
                <a:r>
                  <a:rPr lang="en-US" dirty="0"/>
                  <a:t>If the search tree is very deep or infinite (like in recursive puzzles), DFS may not terminate without a limit (hence, variants like </a:t>
                </a:r>
                <a:r>
                  <a:rPr lang="en-US" b="1" dirty="0"/>
                  <a:t>Depth-Limited DFS</a:t>
                </a:r>
                <a:r>
                  <a:rPr lang="en-US" dirty="0"/>
                  <a:t> or </a:t>
                </a:r>
                <a:r>
                  <a:rPr lang="en-US" b="1" dirty="0"/>
                  <a:t>Iterative Deepening DFS</a:t>
                </a:r>
                <a:r>
                  <a:rPr lang="en-US" dirty="0"/>
                  <a:t> are used).</a:t>
                </a:r>
              </a:p>
              <a:p>
                <a:pPr marL="0" indent="0">
                  <a:buNone/>
                </a:pPr>
                <a:endParaRPr lang="en-US" dirty="0"/>
              </a:p>
            </p:txBody>
          </p:sp>
        </mc:Choice>
        <mc:Fallback>
          <p:sp>
            <p:nvSpPr>
              <p:cNvPr id="3" name="Content Placeholder 2">
                <a:extLst>
                  <a:ext uri="{FF2B5EF4-FFF2-40B4-BE49-F238E27FC236}">
                    <a16:creationId xmlns:a16="http://schemas.microsoft.com/office/drawing/2014/main" id="{871092C1-7311-40BC-8FC7-02234CE7D440}"/>
                  </a:ext>
                </a:extLst>
              </p:cNvPr>
              <p:cNvSpPr>
                <a:spLocks noGrp="1" noRot="1" noChangeAspect="1" noMove="1" noResize="1" noEditPoints="1" noAdjustHandles="1" noChangeArrowheads="1" noChangeShapeType="1" noTextEdit="1"/>
              </p:cNvSpPr>
              <p:nvPr>
                <p:ph idx="1"/>
              </p:nvPr>
            </p:nvSpPr>
            <p:spPr>
              <a:xfrm>
                <a:off x="269823" y="194872"/>
                <a:ext cx="11752288" cy="6445771"/>
              </a:xfrm>
              <a:blipFill>
                <a:blip r:embed="rId2"/>
                <a:stretch>
                  <a:fillRect l="-1037" t="-1703"/>
                </a:stretch>
              </a:blipFill>
            </p:spPr>
            <p:txBody>
              <a:bodyPr/>
              <a:lstStyle/>
              <a:p>
                <a:r>
                  <a:rPr lang="en-US">
                    <a:noFill/>
                  </a:rPr>
                  <a:t> </a:t>
                </a:r>
              </a:p>
            </p:txBody>
          </p:sp>
        </mc:Fallback>
      </mc:AlternateContent>
    </p:spTree>
    <p:extLst>
      <p:ext uri="{BB962C8B-B14F-4D97-AF65-F5344CB8AC3E}">
        <p14:creationId xmlns:p14="http://schemas.microsoft.com/office/powerpoint/2010/main" val="13755036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72DD2B-E7B2-AA93-6E98-8133614E00EA}"/>
              </a:ext>
            </a:extLst>
          </p:cNvPr>
          <p:cNvSpPr>
            <a:spLocks noGrp="1"/>
          </p:cNvSpPr>
          <p:nvPr>
            <p:ph idx="1"/>
          </p:nvPr>
        </p:nvSpPr>
        <p:spPr>
          <a:xfrm>
            <a:off x="164891" y="194872"/>
            <a:ext cx="11857219" cy="6490741"/>
          </a:xfrm>
        </p:spPr>
        <p:txBody>
          <a:bodyPr/>
          <a:lstStyle/>
          <a:p>
            <a:pPr marL="0" indent="0">
              <a:buNone/>
            </a:pPr>
            <a:r>
              <a:rPr lang="en-US" dirty="0"/>
              <a:t>Also note:</a:t>
            </a:r>
          </a:p>
          <a:p>
            <a:pPr marL="0" indent="0">
              <a:buNone/>
            </a:pPr>
            <a:endParaRPr lang="en-US" dirty="0"/>
          </a:p>
          <a:p>
            <a:pPr marL="0" indent="0">
              <a:buNone/>
            </a:pPr>
            <a:r>
              <a:rPr lang="en-US" dirty="0"/>
              <a:t>Time Complexity (Tree): O(</a:t>
            </a:r>
            <a:r>
              <a:rPr lang="en-US" dirty="0" err="1"/>
              <a:t>b^d</a:t>
            </a:r>
            <a:r>
              <a:rPr lang="en-US" dirty="0"/>
              <a:t>)</a:t>
            </a:r>
          </a:p>
          <a:p>
            <a:pPr marL="0" indent="0">
              <a:buNone/>
            </a:pPr>
            <a:r>
              <a:rPr lang="en-US" dirty="0"/>
              <a:t>Time Complexity (Graph): O(V + E)</a:t>
            </a:r>
          </a:p>
          <a:p>
            <a:pPr marL="0" indent="0">
              <a:buNone/>
            </a:pPr>
            <a:r>
              <a:rPr lang="en-US" dirty="0"/>
              <a:t>Space Complexity: O(bd) or O(V)</a:t>
            </a:r>
          </a:p>
          <a:p>
            <a:pPr marL="0" indent="0">
              <a:buNone/>
            </a:pPr>
            <a:r>
              <a:rPr lang="en-US" dirty="0"/>
              <a:t>Is DFS optimal?   No, it may not find the shortest path.</a:t>
            </a:r>
          </a:p>
          <a:p>
            <a:pPr marL="0" indent="0">
              <a:buNone/>
            </a:pPr>
            <a:r>
              <a:rPr lang="en-US" dirty="0"/>
              <a:t>Is DFS complete?  Not always, unless the search space is finite.</a:t>
            </a:r>
          </a:p>
          <a:p>
            <a:pPr marL="0" indent="0">
              <a:buNone/>
            </a:pPr>
            <a:endParaRPr lang="en-US" dirty="0"/>
          </a:p>
        </p:txBody>
      </p:sp>
    </p:spTree>
    <p:extLst>
      <p:ext uri="{BB962C8B-B14F-4D97-AF65-F5344CB8AC3E}">
        <p14:creationId xmlns:p14="http://schemas.microsoft.com/office/powerpoint/2010/main" val="14379343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CBA38D-4815-96BD-8115-5AD1D12C6E8A}"/>
              </a:ext>
            </a:extLst>
          </p:cNvPr>
          <p:cNvSpPr>
            <a:spLocks noGrp="1"/>
          </p:cNvSpPr>
          <p:nvPr>
            <p:ph idx="1"/>
          </p:nvPr>
        </p:nvSpPr>
        <p:spPr>
          <a:xfrm>
            <a:off x="239842" y="239843"/>
            <a:ext cx="11812250" cy="6415790"/>
          </a:xfrm>
        </p:spPr>
        <p:txBody>
          <a:bodyPr/>
          <a:lstStyle/>
          <a:p>
            <a:pPr marL="0" indent="0">
              <a:buNone/>
            </a:pPr>
            <a:r>
              <a:rPr lang="en-US" b="1" dirty="0"/>
              <a:t>Graphical Example to illustrate the difference between BFS and DFS</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			</a:t>
            </a:r>
          </a:p>
          <a:p>
            <a:pPr marL="0" indent="0">
              <a:buNone/>
            </a:pPr>
            <a:r>
              <a:rPr lang="en-US" dirty="0"/>
              <a:t>			</a:t>
            </a:r>
            <a:r>
              <a:rPr lang="en-US" sz="3600" dirty="0"/>
              <a:t>BFS					          DFS</a:t>
            </a:r>
          </a:p>
          <a:p>
            <a:pPr marL="0" indent="0">
              <a:buNone/>
            </a:pPr>
            <a:endParaRPr lang="en-US" dirty="0"/>
          </a:p>
          <a:p>
            <a:pPr marL="0" indent="0">
              <a:buNone/>
            </a:pPr>
            <a:endParaRPr lang="en-US" dirty="0"/>
          </a:p>
        </p:txBody>
      </p:sp>
      <p:pic>
        <p:nvPicPr>
          <p:cNvPr id="6" name="Picture 5" descr="A diagram of a diagram&#10;&#10;AI-generated content may be incorrect.">
            <a:extLst>
              <a:ext uri="{FF2B5EF4-FFF2-40B4-BE49-F238E27FC236}">
                <a16:creationId xmlns:a16="http://schemas.microsoft.com/office/drawing/2014/main" id="{BE86B318-9BC1-66B7-F346-FBF29F91E5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9410" y="929391"/>
            <a:ext cx="10283251" cy="3927422"/>
          </a:xfrm>
          <a:prstGeom prst="rect">
            <a:avLst/>
          </a:prstGeom>
        </p:spPr>
      </p:pic>
    </p:spTree>
    <p:extLst>
      <p:ext uri="{BB962C8B-B14F-4D97-AF65-F5344CB8AC3E}">
        <p14:creationId xmlns:p14="http://schemas.microsoft.com/office/powerpoint/2010/main" val="1048195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2195E6-4E0D-4F52-8D9E-0E289E8C6CCF}"/>
              </a:ext>
            </a:extLst>
          </p:cNvPr>
          <p:cNvSpPr>
            <a:spLocks noGrp="1"/>
          </p:cNvSpPr>
          <p:nvPr>
            <p:ph idx="1"/>
          </p:nvPr>
        </p:nvSpPr>
        <p:spPr>
          <a:xfrm>
            <a:off x="179881" y="149902"/>
            <a:ext cx="11827239" cy="6550701"/>
          </a:xfrm>
        </p:spPr>
        <p:txBody>
          <a:bodyPr/>
          <a:lstStyle/>
          <a:p>
            <a:pPr marL="0" indent="0" algn="ctr">
              <a:buNone/>
            </a:pPr>
            <a:r>
              <a:rPr lang="en-US" b="1" dirty="0"/>
              <a:t>Depth Limited Search (DLS)</a:t>
            </a:r>
          </a:p>
          <a:p>
            <a:pPr marL="0" indent="0" algn="just">
              <a:buNone/>
            </a:pPr>
            <a:r>
              <a:rPr lang="en-US" dirty="0"/>
              <a:t>DLS is a modified version of DFS that limits how deep the search can go.</a:t>
            </a:r>
            <a:br>
              <a:rPr lang="en-US" dirty="0"/>
            </a:br>
            <a:r>
              <a:rPr lang="en-US" dirty="0"/>
              <a:t>It introduces a depth limit (L) to prevent infinite descent in deep or cyclic search spaces</a:t>
            </a:r>
          </a:p>
          <a:p>
            <a:pPr marL="0" indent="0" algn="just">
              <a:buNone/>
            </a:pPr>
            <a:r>
              <a:rPr lang="en-US" dirty="0"/>
              <a:t>This means that the algorithm will only explore nodes up to a certain depth effectively preventing it from going down excessively deep paths that may also lead to not reaching the goal and is computationally expensive.</a:t>
            </a:r>
          </a:p>
          <a:p>
            <a:pPr marL="0" indent="0" algn="just">
              <a:buNone/>
            </a:pPr>
            <a:r>
              <a:rPr lang="en-US" dirty="0"/>
              <a:t> By setting a maximum depth limit, DLS aims to improve efficiency and ensure more manageable search times.</a:t>
            </a:r>
          </a:p>
          <a:p>
            <a:pPr marL="0" indent="0" algn="just">
              <a:buNone/>
            </a:pPr>
            <a:endParaRPr lang="en-US" dirty="0"/>
          </a:p>
        </p:txBody>
      </p:sp>
      <p:pic>
        <p:nvPicPr>
          <p:cNvPr id="4" name="Picture 3" descr="A diagram of a diagram&#10;&#10;AI-generated content may be incorrect.">
            <a:extLst>
              <a:ext uri="{FF2B5EF4-FFF2-40B4-BE49-F238E27FC236}">
                <a16:creationId xmlns:a16="http://schemas.microsoft.com/office/drawing/2014/main" id="{EFC51CCE-0571-2798-79B2-5A20B8CBD0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87778" y="4092315"/>
            <a:ext cx="5426438" cy="2608288"/>
          </a:xfrm>
          <a:prstGeom prst="rect">
            <a:avLst/>
          </a:prstGeom>
        </p:spPr>
      </p:pic>
    </p:spTree>
    <p:extLst>
      <p:ext uri="{BB962C8B-B14F-4D97-AF65-F5344CB8AC3E}">
        <p14:creationId xmlns:p14="http://schemas.microsoft.com/office/powerpoint/2010/main" val="1973175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75A2AB-0949-7D72-B004-57491C311946}"/>
              </a:ext>
            </a:extLst>
          </p:cNvPr>
          <p:cNvSpPr>
            <a:spLocks noGrp="1"/>
          </p:cNvSpPr>
          <p:nvPr>
            <p:ph idx="1"/>
          </p:nvPr>
        </p:nvSpPr>
        <p:spPr>
          <a:xfrm>
            <a:off x="179882" y="224852"/>
            <a:ext cx="11887200" cy="6385810"/>
          </a:xfrm>
        </p:spPr>
        <p:txBody>
          <a:bodyPr/>
          <a:lstStyle/>
          <a:p>
            <a:pPr marL="0" indent="0" algn="ctr" fontAlgn="base">
              <a:buNone/>
            </a:pPr>
            <a:r>
              <a:rPr lang="en-US" b="1" dirty="0"/>
              <a:t>How Depth Limited Search Works</a:t>
            </a:r>
          </a:p>
          <a:p>
            <a:pPr marL="0" indent="0" fontAlgn="base">
              <a:buNone/>
            </a:pPr>
            <a:r>
              <a:rPr lang="en-US" b="1" dirty="0"/>
              <a:t>Initialization</a:t>
            </a:r>
            <a:r>
              <a:rPr lang="en-US" dirty="0"/>
              <a:t>: Begin at the root node with a specified depth limit.</a:t>
            </a:r>
          </a:p>
          <a:p>
            <a:pPr marL="0" indent="0" fontAlgn="base">
              <a:buNone/>
            </a:pPr>
            <a:r>
              <a:rPr lang="en-US" b="1" dirty="0"/>
              <a:t>Exploration</a:t>
            </a:r>
            <a:r>
              <a:rPr lang="en-US" dirty="0"/>
              <a:t>: Traverse the tree or graph, exploring each node's children.</a:t>
            </a:r>
          </a:p>
          <a:p>
            <a:pPr marL="0" indent="0" fontAlgn="base">
              <a:buNone/>
            </a:pPr>
            <a:r>
              <a:rPr lang="en-US" b="1" dirty="0"/>
              <a:t>Depth Check</a:t>
            </a:r>
            <a:r>
              <a:rPr lang="en-US" dirty="0"/>
              <a:t>: If the current depth exceeds the set limit, stop exploring that path and backtrack.</a:t>
            </a:r>
          </a:p>
          <a:p>
            <a:pPr marL="0" indent="0" fontAlgn="base">
              <a:buNone/>
            </a:pPr>
            <a:r>
              <a:rPr lang="en-US" b="1" dirty="0"/>
              <a:t>Goal Check</a:t>
            </a:r>
            <a:r>
              <a:rPr lang="en-US" dirty="0"/>
              <a:t>: If the goal node is found within the depth limit, the search is successful.</a:t>
            </a:r>
          </a:p>
          <a:p>
            <a:pPr marL="0" indent="0" fontAlgn="base">
              <a:buNone/>
            </a:pPr>
            <a:r>
              <a:rPr lang="en-US" b="1" dirty="0"/>
              <a:t>Backtracking</a:t>
            </a:r>
            <a:r>
              <a:rPr lang="en-US" dirty="0"/>
              <a:t>: If the search reaches the depth limit or a leaf node without finding the goal, backtrack and explore other branches.</a:t>
            </a:r>
          </a:p>
          <a:p>
            <a:pPr marL="0" indent="0" fontAlgn="base">
              <a:buNone/>
            </a:pPr>
            <a:endParaRPr lang="en-US" dirty="0"/>
          </a:p>
          <a:p>
            <a:pPr marL="0" indent="0" fontAlgn="base">
              <a:buNone/>
            </a:pPr>
            <a:r>
              <a:rPr lang="en-US" dirty="0"/>
              <a:t>From the graph example, our depth limit is set to L = 2, the algorithm will only explore nodes up to two levels deep.</a:t>
            </a:r>
            <a:br>
              <a:rPr lang="en-US" dirty="0"/>
            </a:br>
            <a:r>
              <a:rPr lang="en-US" dirty="0"/>
              <a:t>After that, it backtracks, avoiding infinite recursion.</a:t>
            </a:r>
          </a:p>
          <a:p>
            <a:pPr marL="0" indent="0">
              <a:buNone/>
            </a:pPr>
            <a:endParaRPr lang="en-US" dirty="0"/>
          </a:p>
        </p:txBody>
      </p:sp>
    </p:spTree>
    <p:extLst>
      <p:ext uri="{BB962C8B-B14F-4D97-AF65-F5344CB8AC3E}">
        <p14:creationId xmlns:p14="http://schemas.microsoft.com/office/powerpoint/2010/main" val="15619708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D0375A-D0BB-9342-C5C0-829271A7A87C}"/>
              </a:ext>
            </a:extLst>
          </p:cNvPr>
          <p:cNvSpPr>
            <a:spLocks noGrp="1"/>
          </p:cNvSpPr>
          <p:nvPr>
            <p:ph idx="1"/>
          </p:nvPr>
        </p:nvSpPr>
        <p:spPr>
          <a:xfrm>
            <a:off x="149901" y="224852"/>
            <a:ext cx="11797259" cy="6490741"/>
          </a:xfrm>
        </p:spPr>
        <p:txBody>
          <a:bodyPr/>
          <a:lstStyle/>
          <a:p>
            <a:pPr marL="0" indent="0">
              <a:buNone/>
            </a:pPr>
            <a:r>
              <a:rPr lang="en-US" b="1" dirty="0"/>
              <a:t>Benefits</a:t>
            </a:r>
          </a:p>
          <a:p>
            <a:r>
              <a:rPr lang="en-US" dirty="0"/>
              <a:t>Avoids infinite loops in DFS.</a:t>
            </a:r>
          </a:p>
          <a:p>
            <a:r>
              <a:rPr lang="en-US" dirty="0"/>
              <a:t>Requires </a:t>
            </a:r>
            <a:r>
              <a:rPr lang="en-US" b="1" dirty="0"/>
              <a:t>less memory</a:t>
            </a:r>
            <a:r>
              <a:rPr lang="en-US" dirty="0"/>
              <a:t> than BFS.</a:t>
            </a:r>
          </a:p>
          <a:p>
            <a:r>
              <a:rPr lang="en-US" dirty="0"/>
              <a:t>Useful when the </a:t>
            </a:r>
            <a:r>
              <a:rPr lang="en-US" b="1" dirty="0"/>
              <a:t>goal depth is known</a:t>
            </a:r>
            <a:r>
              <a:rPr lang="en-US" dirty="0"/>
              <a:t> approximately.</a:t>
            </a:r>
          </a:p>
          <a:p>
            <a:pPr marL="0" indent="0">
              <a:buNone/>
            </a:pPr>
            <a:endParaRPr lang="en-US" b="1" dirty="0"/>
          </a:p>
          <a:p>
            <a:pPr marL="0" indent="0">
              <a:buNone/>
            </a:pPr>
            <a:r>
              <a:rPr lang="en-US" b="1" dirty="0"/>
              <a:t>Limitations</a:t>
            </a:r>
          </a:p>
          <a:p>
            <a:r>
              <a:rPr lang="en-US" dirty="0"/>
              <a:t>If the depth limit is too small, the algorithm </a:t>
            </a:r>
            <a:r>
              <a:rPr lang="en-US" b="1" dirty="0"/>
              <a:t>fails</a:t>
            </a:r>
            <a:r>
              <a:rPr lang="en-US" dirty="0"/>
              <a:t> to find the goal.</a:t>
            </a:r>
          </a:p>
          <a:p>
            <a:r>
              <a:rPr lang="en-US" dirty="0"/>
              <a:t>If too large, it </a:t>
            </a:r>
            <a:r>
              <a:rPr lang="en-US" b="1" dirty="0"/>
              <a:t>wastes time</a:t>
            </a:r>
            <a:r>
              <a:rPr lang="en-US" dirty="0"/>
              <a:t> exploring unnecessary levels.</a:t>
            </a:r>
          </a:p>
          <a:p>
            <a:r>
              <a:rPr lang="en-US" b="1" dirty="0"/>
              <a:t>Still not optimal</a:t>
            </a:r>
            <a:r>
              <a:rPr lang="en-US" dirty="0"/>
              <a:t> (depends on the depth limit).</a:t>
            </a:r>
          </a:p>
          <a:p>
            <a:pPr marL="0" indent="0">
              <a:buNone/>
            </a:pPr>
            <a:endParaRPr lang="en-US" dirty="0"/>
          </a:p>
        </p:txBody>
      </p:sp>
    </p:spTree>
    <p:extLst>
      <p:ext uri="{BB962C8B-B14F-4D97-AF65-F5344CB8AC3E}">
        <p14:creationId xmlns:p14="http://schemas.microsoft.com/office/powerpoint/2010/main" val="31492915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08CE4E-101A-274B-1AA5-C1DA7A955912}"/>
              </a:ext>
            </a:extLst>
          </p:cNvPr>
          <p:cNvSpPr>
            <a:spLocks noGrp="1"/>
          </p:cNvSpPr>
          <p:nvPr>
            <p:ph idx="1"/>
          </p:nvPr>
        </p:nvSpPr>
        <p:spPr>
          <a:xfrm>
            <a:off x="149902" y="239843"/>
            <a:ext cx="11902190" cy="6430780"/>
          </a:xfrm>
        </p:spPr>
        <p:txBody>
          <a:bodyPr>
            <a:normAutofit fontScale="92500" lnSpcReduction="20000"/>
          </a:bodyPr>
          <a:lstStyle/>
          <a:p>
            <a:pPr marL="0" indent="0" algn="ctr">
              <a:buNone/>
            </a:pPr>
            <a:r>
              <a:rPr lang="en-US" dirty="0"/>
              <a:t>Pseudocode for DLS</a:t>
            </a:r>
          </a:p>
          <a:p>
            <a:pPr marL="0" indent="0">
              <a:buNone/>
            </a:pPr>
            <a:r>
              <a:rPr lang="en-US" dirty="0"/>
              <a:t>def </a:t>
            </a:r>
            <a:r>
              <a:rPr lang="en-US" dirty="0" err="1"/>
              <a:t>depth_limited_search</a:t>
            </a:r>
            <a:r>
              <a:rPr lang="en-US" dirty="0"/>
              <a:t>(node, </a:t>
            </a:r>
            <a:r>
              <a:rPr lang="en-US" dirty="0" err="1"/>
              <a:t>goal_test</a:t>
            </a:r>
            <a:r>
              <a:rPr lang="en-US" dirty="0"/>
              <a:t>, limit):</a:t>
            </a:r>
          </a:p>
          <a:p>
            <a:pPr marL="0" indent="0">
              <a:buNone/>
            </a:pPr>
            <a:r>
              <a:rPr lang="en-US" dirty="0"/>
              <a:t>    if </a:t>
            </a:r>
            <a:r>
              <a:rPr lang="en-US" dirty="0" err="1"/>
              <a:t>goal_test</a:t>
            </a:r>
            <a:r>
              <a:rPr lang="en-US" dirty="0"/>
              <a:t>(node):</a:t>
            </a:r>
          </a:p>
          <a:p>
            <a:pPr marL="0" indent="0">
              <a:buNone/>
            </a:pPr>
            <a:r>
              <a:rPr lang="en-US" dirty="0"/>
              <a:t>        return node</a:t>
            </a:r>
          </a:p>
          <a:p>
            <a:pPr marL="0" indent="0">
              <a:buNone/>
            </a:pPr>
            <a:r>
              <a:rPr lang="en-US" dirty="0"/>
              <a:t>    </a:t>
            </a:r>
            <a:r>
              <a:rPr lang="en-US" dirty="0" err="1"/>
              <a:t>elif</a:t>
            </a:r>
            <a:r>
              <a:rPr lang="en-US" dirty="0"/>
              <a:t> limit == 0:</a:t>
            </a:r>
          </a:p>
          <a:p>
            <a:pPr marL="0" indent="0">
              <a:buNone/>
            </a:pPr>
            <a:r>
              <a:rPr lang="en-US" dirty="0"/>
              <a:t>        return "cutoff"</a:t>
            </a:r>
          </a:p>
          <a:p>
            <a:pPr marL="0" indent="0">
              <a:buNone/>
            </a:pPr>
            <a:r>
              <a:rPr lang="en-US" dirty="0"/>
              <a:t>    else:</a:t>
            </a:r>
          </a:p>
          <a:p>
            <a:pPr marL="0" indent="0">
              <a:buNone/>
            </a:pPr>
            <a:r>
              <a:rPr lang="en-US" dirty="0"/>
              <a:t>        </a:t>
            </a:r>
            <a:r>
              <a:rPr lang="en-US" dirty="0" err="1"/>
              <a:t>cutoff_occurred</a:t>
            </a:r>
            <a:r>
              <a:rPr lang="en-US" dirty="0"/>
              <a:t> = False</a:t>
            </a:r>
          </a:p>
          <a:p>
            <a:pPr marL="0" indent="0">
              <a:buNone/>
            </a:pPr>
            <a:r>
              <a:rPr lang="en-US" dirty="0"/>
              <a:t>        for child in expand(node):</a:t>
            </a:r>
          </a:p>
          <a:p>
            <a:pPr marL="0" indent="0">
              <a:buNone/>
            </a:pPr>
            <a:r>
              <a:rPr lang="en-US" dirty="0"/>
              <a:t>            result = </a:t>
            </a:r>
            <a:r>
              <a:rPr lang="en-US" dirty="0" err="1"/>
              <a:t>depth_limited_search</a:t>
            </a:r>
            <a:r>
              <a:rPr lang="en-US" dirty="0"/>
              <a:t>(child, </a:t>
            </a:r>
            <a:r>
              <a:rPr lang="en-US" dirty="0" err="1"/>
              <a:t>goal_test</a:t>
            </a:r>
            <a:r>
              <a:rPr lang="en-US" dirty="0"/>
              <a:t>, limit - 1)</a:t>
            </a:r>
          </a:p>
          <a:p>
            <a:pPr marL="0" indent="0">
              <a:buNone/>
            </a:pPr>
            <a:r>
              <a:rPr lang="en-US" dirty="0"/>
              <a:t>            if result == "cutoff":</a:t>
            </a:r>
          </a:p>
          <a:p>
            <a:pPr marL="0" indent="0">
              <a:buNone/>
            </a:pPr>
            <a:r>
              <a:rPr lang="en-US" dirty="0"/>
              <a:t>                </a:t>
            </a:r>
            <a:r>
              <a:rPr lang="en-US" dirty="0" err="1"/>
              <a:t>cutoff_occurred</a:t>
            </a:r>
            <a:r>
              <a:rPr lang="en-US" dirty="0"/>
              <a:t> = True</a:t>
            </a:r>
          </a:p>
          <a:p>
            <a:pPr marL="0" indent="0">
              <a:buNone/>
            </a:pPr>
            <a:r>
              <a:rPr lang="en-US" dirty="0"/>
              <a:t>            </a:t>
            </a:r>
            <a:r>
              <a:rPr lang="en-US" dirty="0" err="1"/>
              <a:t>elif</a:t>
            </a:r>
            <a:r>
              <a:rPr lang="en-US" dirty="0"/>
              <a:t> result != "failure":</a:t>
            </a:r>
          </a:p>
          <a:p>
            <a:pPr marL="0" indent="0">
              <a:buNone/>
            </a:pPr>
            <a:r>
              <a:rPr lang="en-US" dirty="0"/>
              <a:t>                return result</a:t>
            </a:r>
          </a:p>
          <a:p>
            <a:pPr marL="0" indent="0">
              <a:buNone/>
            </a:pPr>
            <a:r>
              <a:rPr lang="en-US" dirty="0"/>
              <a:t>        return "cutoff" if </a:t>
            </a:r>
            <a:r>
              <a:rPr lang="en-US" dirty="0" err="1"/>
              <a:t>cutoff_occurred</a:t>
            </a:r>
            <a:r>
              <a:rPr lang="en-US" dirty="0"/>
              <a:t> else "failure"</a:t>
            </a:r>
          </a:p>
        </p:txBody>
      </p:sp>
    </p:spTree>
    <p:extLst>
      <p:ext uri="{BB962C8B-B14F-4D97-AF65-F5344CB8AC3E}">
        <p14:creationId xmlns:p14="http://schemas.microsoft.com/office/powerpoint/2010/main" val="9200362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6672A9-4676-07B3-8E8A-60A40D8D3060}"/>
              </a:ext>
            </a:extLst>
          </p:cNvPr>
          <p:cNvSpPr>
            <a:spLocks noGrp="1"/>
          </p:cNvSpPr>
          <p:nvPr>
            <p:ph idx="1"/>
          </p:nvPr>
        </p:nvSpPr>
        <p:spPr>
          <a:xfrm>
            <a:off x="194871" y="209862"/>
            <a:ext cx="11767279" cy="6430781"/>
          </a:xfrm>
        </p:spPr>
        <p:txBody>
          <a:bodyPr/>
          <a:lstStyle/>
          <a:p>
            <a:pPr marL="0" indent="0" fontAlgn="base">
              <a:buNone/>
            </a:pPr>
            <a:r>
              <a:rPr lang="en-US" dirty="0"/>
              <a:t>In the pseudocode, </a:t>
            </a:r>
          </a:p>
          <a:p>
            <a:pPr marL="0" indent="0" fontAlgn="base">
              <a:buNone/>
            </a:pPr>
            <a:r>
              <a:rPr lang="en-US" dirty="0"/>
              <a:t>The function takes node, </a:t>
            </a:r>
            <a:r>
              <a:rPr lang="en-US" dirty="0" err="1"/>
              <a:t>goal_test</a:t>
            </a:r>
            <a:r>
              <a:rPr lang="en-US" dirty="0"/>
              <a:t> and limit as inputs.</a:t>
            </a:r>
          </a:p>
          <a:p>
            <a:pPr marL="0" indent="0" fontAlgn="base">
              <a:buNone/>
            </a:pPr>
            <a:r>
              <a:rPr lang="en-US" dirty="0"/>
              <a:t>If the node satisfies the goal, it returns the node as the solution.</a:t>
            </a:r>
          </a:p>
          <a:p>
            <a:pPr marL="0" indent="0" fontAlgn="base">
              <a:buNone/>
            </a:pPr>
            <a:r>
              <a:rPr lang="en-US" dirty="0"/>
              <a:t>If the depth limit is 0, it stops and returns "cutoff" to indicate the limit was reached.</a:t>
            </a:r>
          </a:p>
          <a:p>
            <a:pPr marL="0" indent="0" fontAlgn="base">
              <a:buNone/>
            </a:pPr>
            <a:r>
              <a:rPr lang="en-US" dirty="0"/>
              <a:t>It then expands the current node to generate child nodes. For each child, it calls itself recursively with the limit decreased by 1.</a:t>
            </a:r>
          </a:p>
          <a:p>
            <a:pPr marL="0" indent="0" fontAlgn="base">
              <a:buNone/>
            </a:pPr>
            <a:r>
              <a:rPr lang="en-US" dirty="0"/>
              <a:t>If any child returns "cutoff" it marks that a cutoff happened.</a:t>
            </a:r>
          </a:p>
          <a:p>
            <a:pPr marL="0" indent="0" fontAlgn="base">
              <a:buNone/>
            </a:pPr>
            <a:r>
              <a:rPr lang="en-US" dirty="0"/>
              <a:t>If any child returns a valid result (not "failure") it returns that result immediately.</a:t>
            </a:r>
          </a:p>
          <a:p>
            <a:pPr marL="0" indent="0" fontAlgn="base">
              <a:buNone/>
            </a:pPr>
            <a:r>
              <a:rPr lang="en-US" dirty="0"/>
              <a:t>After checking all children, if any caused a cutoff, it returns "cutoff", otherwise it returns "failure" meaning no solution was found within the limit.</a:t>
            </a:r>
          </a:p>
          <a:p>
            <a:pPr marL="0" indent="0">
              <a:buNone/>
            </a:pPr>
            <a:endParaRPr lang="en-US" dirty="0"/>
          </a:p>
        </p:txBody>
      </p:sp>
    </p:spTree>
    <p:extLst>
      <p:ext uri="{BB962C8B-B14F-4D97-AF65-F5344CB8AC3E}">
        <p14:creationId xmlns:p14="http://schemas.microsoft.com/office/powerpoint/2010/main" val="771195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CBCBA2-1FF8-8281-B1AA-2113BB7C353B}"/>
              </a:ext>
            </a:extLst>
          </p:cNvPr>
          <p:cNvSpPr>
            <a:spLocks noGrp="1"/>
          </p:cNvSpPr>
          <p:nvPr>
            <p:ph idx="1"/>
          </p:nvPr>
        </p:nvSpPr>
        <p:spPr>
          <a:xfrm>
            <a:off x="254833" y="209862"/>
            <a:ext cx="11677337" cy="6400800"/>
          </a:xfrm>
        </p:spPr>
        <p:txBody>
          <a:bodyPr>
            <a:normAutofit/>
          </a:bodyPr>
          <a:lstStyle/>
          <a:p>
            <a:pPr marL="0" indent="0">
              <a:buNone/>
            </a:pPr>
            <a:r>
              <a:rPr lang="en-US" b="1" dirty="0"/>
              <a:t>Applications of Depth Limited Search in AI</a:t>
            </a:r>
          </a:p>
          <a:p>
            <a:pPr algn="just" fontAlgn="base"/>
            <a:r>
              <a:rPr lang="en-US" b="1" dirty="0"/>
              <a:t>Pathfinding in Robotics:</a:t>
            </a:r>
            <a:r>
              <a:rPr lang="en-US" dirty="0"/>
              <a:t> DLS is employed for nonholonomic motion planning of robots in the presence of obstacles. By imposing restriction on the depth it makes the robot stop after exploring a particular depth of an area and restricting the robot from too much wandering.</a:t>
            </a:r>
          </a:p>
          <a:p>
            <a:pPr algn="just" fontAlgn="base"/>
            <a:r>
              <a:rPr lang="en-US" b="1" dirty="0"/>
              <a:t>Network Routing Algorithms: </a:t>
            </a:r>
            <a:r>
              <a:rPr lang="en-US" dirty="0"/>
              <a:t>A DLS can be implemented to compute paths between nodes in computer networks restricting the number of hops to prevent loops.</a:t>
            </a:r>
          </a:p>
          <a:p>
            <a:pPr algn="just" fontAlgn="base"/>
            <a:r>
              <a:rPr lang="en-US" b="1" dirty="0"/>
              <a:t>Puzzle Solving in AI Systems: </a:t>
            </a:r>
            <a:r>
              <a:rPr lang="en-US" dirty="0"/>
              <a:t>It can be used to solve puzzles such as the 8-puzzle or Sudoku by manipulating possible moves a fixed number of times that reduces how many steps are taken in the search.</a:t>
            </a:r>
          </a:p>
          <a:p>
            <a:pPr algn="just" fontAlgn="base"/>
            <a:r>
              <a:rPr lang="en-US" b="1" dirty="0"/>
              <a:t>Game Playing: </a:t>
            </a:r>
            <a:r>
              <a:rPr lang="en-US" dirty="0"/>
              <a:t>In AI for games, instead, DLS can be used to plan forward a few moves up to a certain level of depth to help decide how much effort to put into a given decision.</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0666101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A25E6B-CE44-660D-BA46-EA6BE189920C}"/>
              </a:ext>
            </a:extLst>
          </p:cNvPr>
          <p:cNvSpPr>
            <a:spLocks noGrp="1"/>
          </p:cNvSpPr>
          <p:nvPr>
            <p:ph idx="1"/>
          </p:nvPr>
        </p:nvSpPr>
        <p:spPr>
          <a:xfrm>
            <a:off x="194872" y="179882"/>
            <a:ext cx="11722308" cy="6505731"/>
          </a:xfrm>
        </p:spPr>
        <p:txBody>
          <a:bodyPr/>
          <a:lstStyle/>
          <a:p>
            <a:pPr marL="0" indent="0">
              <a:buNone/>
            </a:pPr>
            <a:r>
              <a:rPr lang="en-US" dirty="0"/>
              <a:t>Properties of DLS</a:t>
            </a:r>
          </a:p>
          <a:p>
            <a:pPr marL="0" indent="0">
              <a:buNone/>
            </a:pPr>
            <a:endParaRPr lang="en-US" dirty="0"/>
          </a:p>
        </p:txBody>
      </p:sp>
      <p:graphicFrame>
        <p:nvGraphicFramePr>
          <p:cNvPr id="2" name="Table 1">
            <a:extLst>
              <a:ext uri="{FF2B5EF4-FFF2-40B4-BE49-F238E27FC236}">
                <a16:creationId xmlns:a16="http://schemas.microsoft.com/office/drawing/2014/main" id="{97998A53-9505-E8D1-8FC1-3ADEA54C6E23}"/>
              </a:ext>
            </a:extLst>
          </p:cNvPr>
          <p:cNvGraphicFramePr>
            <a:graphicFrameLocks noGrp="1"/>
          </p:cNvGraphicFramePr>
          <p:nvPr>
            <p:extLst>
              <p:ext uri="{D42A27DB-BD31-4B8C-83A1-F6EECF244321}">
                <p14:modId xmlns:p14="http://schemas.microsoft.com/office/powerpoint/2010/main" val="123400219"/>
              </p:ext>
            </p:extLst>
          </p:nvPr>
        </p:nvGraphicFramePr>
        <p:xfrm>
          <a:off x="838200" y="1004341"/>
          <a:ext cx="10515600" cy="4459991"/>
        </p:xfrm>
        <a:graphic>
          <a:graphicData uri="http://schemas.openxmlformats.org/drawingml/2006/table">
            <a:tbl>
              <a:tblPr/>
              <a:tblGrid>
                <a:gridCol w="3505200">
                  <a:extLst>
                    <a:ext uri="{9D8B030D-6E8A-4147-A177-3AD203B41FA5}">
                      <a16:colId xmlns:a16="http://schemas.microsoft.com/office/drawing/2014/main" val="3315162729"/>
                    </a:ext>
                  </a:extLst>
                </a:gridCol>
                <a:gridCol w="3505200">
                  <a:extLst>
                    <a:ext uri="{9D8B030D-6E8A-4147-A177-3AD203B41FA5}">
                      <a16:colId xmlns:a16="http://schemas.microsoft.com/office/drawing/2014/main" val="3390772253"/>
                    </a:ext>
                  </a:extLst>
                </a:gridCol>
                <a:gridCol w="3505200">
                  <a:extLst>
                    <a:ext uri="{9D8B030D-6E8A-4147-A177-3AD203B41FA5}">
                      <a16:colId xmlns:a16="http://schemas.microsoft.com/office/drawing/2014/main" val="4264101206"/>
                    </a:ext>
                  </a:extLst>
                </a:gridCol>
              </a:tblGrid>
              <a:tr h="557499">
                <a:tc>
                  <a:txBody>
                    <a:bodyPr/>
                    <a:lstStyle/>
                    <a:p>
                      <a:pPr>
                        <a:buNone/>
                      </a:pPr>
                      <a:r>
                        <a:rPr lang="en-US" b="1"/>
                        <a:t>Property</a:t>
                      </a:r>
                      <a:endParaRPr lang="en-US"/>
                    </a:p>
                  </a:txBody>
                  <a:tcPr anchor="ctr">
                    <a:lnL>
                      <a:noFill/>
                    </a:lnL>
                    <a:lnR>
                      <a:noFill/>
                    </a:lnR>
                    <a:lnT>
                      <a:noFill/>
                    </a:lnT>
                    <a:lnB>
                      <a:noFill/>
                    </a:lnB>
                    <a:noFill/>
                  </a:tcPr>
                </a:tc>
                <a:tc>
                  <a:txBody>
                    <a:bodyPr/>
                    <a:lstStyle/>
                    <a:p>
                      <a:pPr>
                        <a:buNone/>
                      </a:pPr>
                      <a:r>
                        <a:rPr lang="en-US" b="1"/>
                        <a:t>Depth-Limited Search (DLS)</a:t>
                      </a:r>
                      <a:endParaRPr lang="en-US"/>
                    </a:p>
                  </a:txBody>
                  <a:tcPr anchor="ctr">
                    <a:lnL>
                      <a:noFill/>
                    </a:lnL>
                    <a:lnR>
                      <a:noFill/>
                    </a:lnR>
                    <a:lnT>
                      <a:noFill/>
                    </a:lnT>
                    <a:lnB>
                      <a:noFill/>
                    </a:lnB>
                    <a:noFill/>
                  </a:tcPr>
                </a:tc>
                <a:tc>
                  <a:txBody>
                    <a:bodyPr/>
                    <a:lstStyle/>
                    <a:p>
                      <a:pPr>
                        <a:buNone/>
                      </a:pPr>
                      <a:r>
                        <a:rPr lang="en-US" b="1"/>
                        <a:t>Explanation</a:t>
                      </a:r>
                      <a:endParaRPr lang="en-US"/>
                    </a:p>
                  </a:txBody>
                  <a:tcPr anchor="ctr">
                    <a:lnL>
                      <a:noFill/>
                    </a:lnL>
                    <a:lnR>
                      <a:noFill/>
                    </a:lnR>
                    <a:lnT>
                      <a:noFill/>
                    </a:lnT>
                    <a:lnB>
                      <a:noFill/>
                    </a:lnB>
                    <a:noFill/>
                  </a:tcPr>
                </a:tc>
                <a:extLst>
                  <a:ext uri="{0D108BD9-81ED-4DB2-BD59-A6C34878D82A}">
                    <a16:rowId xmlns:a16="http://schemas.microsoft.com/office/drawing/2014/main" val="334629651"/>
                  </a:ext>
                </a:extLst>
              </a:tr>
              <a:tr h="975623">
                <a:tc>
                  <a:txBody>
                    <a:bodyPr/>
                    <a:lstStyle/>
                    <a:p>
                      <a:pPr>
                        <a:buNone/>
                      </a:pPr>
                      <a:r>
                        <a:rPr lang="en-US" b="1"/>
                        <a:t>Completeness</a:t>
                      </a:r>
                      <a:endParaRPr lang="en-US"/>
                    </a:p>
                  </a:txBody>
                  <a:tcPr anchor="ctr">
                    <a:lnL>
                      <a:noFill/>
                    </a:lnL>
                    <a:lnR>
                      <a:noFill/>
                    </a:lnR>
                    <a:lnT>
                      <a:noFill/>
                    </a:lnT>
                    <a:lnB>
                      <a:noFill/>
                    </a:lnB>
                    <a:noFill/>
                  </a:tcPr>
                </a:tc>
                <a:tc>
                  <a:txBody>
                    <a:bodyPr/>
                    <a:lstStyle/>
                    <a:p>
                      <a:pPr>
                        <a:buNone/>
                      </a:pPr>
                      <a:r>
                        <a:rPr lang="en-US" dirty="0"/>
                        <a:t> No (unless limit ≥ goal depth)</a:t>
                      </a:r>
                    </a:p>
                  </a:txBody>
                  <a:tcPr anchor="ctr">
                    <a:lnL>
                      <a:noFill/>
                    </a:lnL>
                    <a:lnR>
                      <a:noFill/>
                    </a:lnR>
                    <a:lnT>
                      <a:noFill/>
                    </a:lnT>
                    <a:lnB>
                      <a:noFill/>
                    </a:lnB>
                    <a:noFill/>
                  </a:tcPr>
                </a:tc>
                <a:tc>
                  <a:txBody>
                    <a:bodyPr/>
                    <a:lstStyle/>
                    <a:p>
                      <a:pPr>
                        <a:buNone/>
                      </a:pPr>
                      <a:r>
                        <a:rPr lang="en-US"/>
                        <a:t>Fails if the goal is deeper than the limit</a:t>
                      </a:r>
                    </a:p>
                  </a:txBody>
                  <a:tcPr anchor="ctr">
                    <a:lnL>
                      <a:noFill/>
                    </a:lnL>
                    <a:lnR>
                      <a:noFill/>
                    </a:lnR>
                    <a:lnT>
                      <a:noFill/>
                    </a:lnT>
                    <a:lnB>
                      <a:noFill/>
                    </a:lnB>
                    <a:noFill/>
                  </a:tcPr>
                </a:tc>
                <a:extLst>
                  <a:ext uri="{0D108BD9-81ED-4DB2-BD59-A6C34878D82A}">
                    <a16:rowId xmlns:a16="http://schemas.microsoft.com/office/drawing/2014/main" val="1311396795"/>
                  </a:ext>
                </a:extLst>
              </a:tr>
              <a:tr h="975623">
                <a:tc>
                  <a:txBody>
                    <a:bodyPr/>
                    <a:lstStyle/>
                    <a:p>
                      <a:pPr>
                        <a:buNone/>
                      </a:pPr>
                      <a:r>
                        <a:rPr lang="en-US" b="1"/>
                        <a:t>Optimality</a:t>
                      </a:r>
                      <a:endParaRPr lang="en-US"/>
                    </a:p>
                  </a:txBody>
                  <a:tcPr anchor="ctr">
                    <a:lnL>
                      <a:noFill/>
                    </a:lnL>
                    <a:lnR>
                      <a:noFill/>
                    </a:lnR>
                    <a:lnT>
                      <a:noFill/>
                    </a:lnT>
                    <a:lnB>
                      <a:noFill/>
                    </a:lnB>
                    <a:noFill/>
                  </a:tcPr>
                </a:tc>
                <a:tc>
                  <a:txBody>
                    <a:bodyPr/>
                    <a:lstStyle/>
                    <a:p>
                      <a:pPr>
                        <a:buNone/>
                      </a:pPr>
                      <a:r>
                        <a:rPr lang="en-US" dirty="0"/>
                        <a:t>No</a:t>
                      </a:r>
                    </a:p>
                  </a:txBody>
                  <a:tcPr anchor="ctr">
                    <a:lnL>
                      <a:noFill/>
                    </a:lnL>
                    <a:lnR>
                      <a:noFill/>
                    </a:lnR>
                    <a:lnT>
                      <a:noFill/>
                    </a:lnT>
                    <a:lnB>
                      <a:noFill/>
                    </a:lnB>
                    <a:noFill/>
                  </a:tcPr>
                </a:tc>
                <a:tc>
                  <a:txBody>
                    <a:bodyPr/>
                    <a:lstStyle/>
                    <a:p>
                      <a:pPr>
                        <a:buNone/>
                      </a:pPr>
                      <a:r>
                        <a:rPr lang="en-US"/>
                        <a:t>May find a suboptimal or longer solution</a:t>
                      </a:r>
                    </a:p>
                  </a:txBody>
                  <a:tcPr anchor="ctr">
                    <a:lnL>
                      <a:noFill/>
                    </a:lnL>
                    <a:lnR>
                      <a:noFill/>
                    </a:lnR>
                    <a:lnT>
                      <a:noFill/>
                    </a:lnT>
                    <a:lnB>
                      <a:noFill/>
                    </a:lnB>
                    <a:noFill/>
                  </a:tcPr>
                </a:tc>
                <a:extLst>
                  <a:ext uri="{0D108BD9-81ED-4DB2-BD59-A6C34878D82A}">
                    <a16:rowId xmlns:a16="http://schemas.microsoft.com/office/drawing/2014/main" val="17335514"/>
                  </a:ext>
                </a:extLst>
              </a:tr>
              <a:tr h="975623">
                <a:tc>
                  <a:txBody>
                    <a:bodyPr/>
                    <a:lstStyle/>
                    <a:p>
                      <a:pPr>
                        <a:buNone/>
                      </a:pPr>
                      <a:r>
                        <a:rPr lang="en-US" b="1"/>
                        <a:t>Time Complexity</a:t>
                      </a:r>
                      <a:endParaRPr lang="en-US"/>
                    </a:p>
                  </a:txBody>
                  <a:tcPr anchor="ctr">
                    <a:lnL>
                      <a:noFill/>
                    </a:lnL>
                    <a:lnR>
                      <a:noFill/>
                    </a:lnR>
                    <a:lnT>
                      <a:noFill/>
                    </a:lnT>
                    <a:lnB>
                      <a:noFill/>
                    </a:lnB>
                    <a:noFill/>
                  </a:tcPr>
                </a:tc>
                <a:tc>
                  <a:txBody>
                    <a:bodyPr/>
                    <a:lstStyle/>
                    <a:p>
                      <a:pPr>
                        <a:buNone/>
                      </a:pPr>
                      <a:r>
                        <a:rPr lang="en-US"/>
                        <a:t>O(b^ℓ)</a:t>
                      </a:r>
                    </a:p>
                  </a:txBody>
                  <a:tcPr anchor="ctr">
                    <a:lnL>
                      <a:noFill/>
                    </a:lnL>
                    <a:lnR>
                      <a:noFill/>
                    </a:lnR>
                    <a:lnT>
                      <a:noFill/>
                    </a:lnT>
                    <a:lnB>
                      <a:noFill/>
                    </a:lnB>
                    <a:noFill/>
                  </a:tcPr>
                </a:tc>
                <a:tc>
                  <a:txBody>
                    <a:bodyPr/>
                    <a:lstStyle/>
                    <a:p>
                      <a:pPr>
                        <a:buNone/>
                      </a:pPr>
                      <a:r>
                        <a:rPr lang="en-US"/>
                        <a:t>Depends on branching factor and depth limit</a:t>
                      </a:r>
                    </a:p>
                  </a:txBody>
                  <a:tcPr anchor="ctr">
                    <a:lnL>
                      <a:noFill/>
                    </a:lnL>
                    <a:lnR>
                      <a:noFill/>
                    </a:lnR>
                    <a:lnT>
                      <a:noFill/>
                    </a:lnT>
                    <a:lnB>
                      <a:noFill/>
                    </a:lnB>
                    <a:noFill/>
                  </a:tcPr>
                </a:tc>
                <a:extLst>
                  <a:ext uri="{0D108BD9-81ED-4DB2-BD59-A6C34878D82A}">
                    <a16:rowId xmlns:a16="http://schemas.microsoft.com/office/drawing/2014/main" val="3523148217"/>
                  </a:ext>
                </a:extLst>
              </a:tr>
              <a:tr h="975623">
                <a:tc>
                  <a:txBody>
                    <a:bodyPr/>
                    <a:lstStyle/>
                    <a:p>
                      <a:pPr>
                        <a:buNone/>
                      </a:pPr>
                      <a:r>
                        <a:rPr lang="en-US" b="1"/>
                        <a:t>Space Complexity</a:t>
                      </a:r>
                      <a:endParaRPr lang="en-US"/>
                    </a:p>
                  </a:txBody>
                  <a:tcPr anchor="ctr">
                    <a:lnL>
                      <a:noFill/>
                    </a:lnL>
                    <a:lnR>
                      <a:noFill/>
                    </a:lnR>
                    <a:lnT>
                      <a:noFill/>
                    </a:lnT>
                    <a:lnB>
                      <a:noFill/>
                    </a:lnB>
                    <a:noFill/>
                  </a:tcPr>
                </a:tc>
                <a:tc>
                  <a:txBody>
                    <a:bodyPr/>
                    <a:lstStyle/>
                    <a:p>
                      <a:pPr>
                        <a:buNone/>
                      </a:pPr>
                      <a:r>
                        <a:rPr lang="en-US"/>
                        <a:t>O(bℓ)</a:t>
                      </a:r>
                    </a:p>
                  </a:txBody>
                  <a:tcPr anchor="ctr">
                    <a:lnL>
                      <a:noFill/>
                    </a:lnL>
                    <a:lnR>
                      <a:noFill/>
                    </a:lnR>
                    <a:lnT>
                      <a:noFill/>
                    </a:lnT>
                    <a:lnB>
                      <a:noFill/>
                    </a:lnB>
                    <a:noFill/>
                  </a:tcPr>
                </a:tc>
                <a:tc>
                  <a:txBody>
                    <a:bodyPr/>
                    <a:lstStyle/>
                    <a:p>
                      <a:pPr>
                        <a:buNone/>
                      </a:pPr>
                      <a:r>
                        <a:rPr lang="en-US" dirty="0"/>
                        <a:t>Linear with depth limit (memory efficient)</a:t>
                      </a:r>
                    </a:p>
                  </a:txBody>
                  <a:tcPr anchor="ctr">
                    <a:lnL>
                      <a:noFill/>
                    </a:lnL>
                    <a:lnR>
                      <a:noFill/>
                    </a:lnR>
                    <a:lnT>
                      <a:noFill/>
                    </a:lnT>
                    <a:lnB>
                      <a:noFill/>
                    </a:lnB>
                    <a:noFill/>
                  </a:tcPr>
                </a:tc>
                <a:extLst>
                  <a:ext uri="{0D108BD9-81ED-4DB2-BD59-A6C34878D82A}">
                    <a16:rowId xmlns:a16="http://schemas.microsoft.com/office/drawing/2014/main" val="3670711724"/>
                  </a:ext>
                </a:extLst>
              </a:tr>
            </a:tbl>
          </a:graphicData>
        </a:graphic>
      </p:graphicFrame>
    </p:spTree>
    <p:extLst>
      <p:ext uri="{BB962C8B-B14F-4D97-AF65-F5344CB8AC3E}">
        <p14:creationId xmlns:p14="http://schemas.microsoft.com/office/powerpoint/2010/main" val="26053434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523099-CADE-82B3-7C60-F2A04C94F460}"/>
              </a:ext>
            </a:extLst>
          </p:cNvPr>
          <p:cNvSpPr>
            <a:spLocks noGrp="1"/>
          </p:cNvSpPr>
          <p:nvPr>
            <p:ph idx="1"/>
          </p:nvPr>
        </p:nvSpPr>
        <p:spPr>
          <a:xfrm>
            <a:off x="314793" y="179882"/>
            <a:ext cx="11557417" cy="6430780"/>
          </a:xfrm>
        </p:spPr>
        <p:txBody>
          <a:bodyPr>
            <a:normAutofit/>
          </a:bodyPr>
          <a:lstStyle/>
          <a:p>
            <a:pPr marL="0" indent="0">
              <a:buNone/>
            </a:pPr>
            <a:r>
              <a:rPr lang="en-US" b="1" dirty="0"/>
              <a:t>Iterative Deepening Depth-First Search (IDDFS) or IDS</a:t>
            </a:r>
          </a:p>
          <a:p>
            <a:pPr marL="0" indent="0">
              <a:buNone/>
            </a:pPr>
            <a:r>
              <a:rPr lang="en-US" dirty="0"/>
              <a:t>IDDFS combines the benefits of </a:t>
            </a:r>
            <a:r>
              <a:rPr lang="en-US" b="1" dirty="0"/>
              <a:t>BFS</a:t>
            </a:r>
            <a:r>
              <a:rPr lang="en-US" dirty="0"/>
              <a:t> (completeness and optimality) and </a:t>
            </a:r>
            <a:r>
              <a:rPr lang="en-US" b="1" dirty="0"/>
              <a:t>DFS</a:t>
            </a:r>
            <a:r>
              <a:rPr lang="en-US" dirty="0"/>
              <a:t> (low memory use).</a:t>
            </a:r>
            <a:br>
              <a:rPr lang="en-US" dirty="0"/>
            </a:br>
            <a:r>
              <a:rPr lang="en-US" dirty="0"/>
              <a:t>It performs </a:t>
            </a:r>
            <a:r>
              <a:rPr lang="en-US" b="1" dirty="0"/>
              <a:t>repeated Depth-Limited Searches</a:t>
            </a:r>
            <a:r>
              <a:rPr lang="en-US" dirty="0"/>
              <a:t> with increasing depth limits until the goal is found.</a:t>
            </a:r>
          </a:p>
          <a:p>
            <a:pPr marL="0" indent="0">
              <a:buNone/>
            </a:pPr>
            <a:r>
              <a:rPr lang="en-US" b="1" dirty="0"/>
              <a:t>	Algorithm Steps</a:t>
            </a:r>
          </a:p>
          <a:p>
            <a:pPr marL="0" indent="0">
              <a:buNone/>
            </a:pPr>
            <a:r>
              <a:rPr lang="en-US" dirty="0"/>
              <a:t>For depth = 0 to ∞:</a:t>
            </a:r>
          </a:p>
          <a:p>
            <a:pPr lvl="1"/>
            <a:r>
              <a:rPr lang="en-US" dirty="0"/>
              <a:t>Run a Depth-Limited Search with limit = depth.</a:t>
            </a:r>
          </a:p>
          <a:p>
            <a:pPr lvl="1"/>
            <a:r>
              <a:rPr lang="en-US" dirty="0"/>
              <a:t>If goal is found, stop and return the solution.</a:t>
            </a:r>
          </a:p>
          <a:p>
            <a:pPr marL="0" indent="0">
              <a:buNone/>
            </a:pPr>
            <a:endParaRPr lang="en-US" dirty="0"/>
          </a:p>
        </p:txBody>
      </p:sp>
    </p:spTree>
    <p:extLst>
      <p:ext uri="{BB962C8B-B14F-4D97-AF65-F5344CB8AC3E}">
        <p14:creationId xmlns:p14="http://schemas.microsoft.com/office/powerpoint/2010/main" val="15531878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A20532-BC5A-AF37-C437-71B1606F6F14}"/>
              </a:ext>
            </a:extLst>
          </p:cNvPr>
          <p:cNvSpPr>
            <a:spLocks noGrp="1"/>
          </p:cNvSpPr>
          <p:nvPr>
            <p:ph idx="1"/>
          </p:nvPr>
        </p:nvSpPr>
        <p:spPr>
          <a:xfrm>
            <a:off x="164892" y="179882"/>
            <a:ext cx="11872210" cy="6520721"/>
          </a:xfrm>
        </p:spPr>
        <p:txBody>
          <a:bodyPr/>
          <a:lstStyle/>
          <a:p>
            <a:pPr marL="0" indent="0">
              <a:buNone/>
            </a:pPr>
            <a:r>
              <a:rPr lang="en-US" b="1" dirty="0"/>
              <a:t>How it Works (Example)</a:t>
            </a:r>
          </a:p>
          <a:p>
            <a:pPr marL="0" indent="0">
              <a:buNone/>
            </a:pPr>
            <a:r>
              <a:rPr lang="en-US" dirty="0"/>
              <a:t>If you’re searching for a goal:</a:t>
            </a:r>
          </a:p>
          <a:p>
            <a:r>
              <a:rPr lang="en-US" dirty="0"/>
              <a:t>First, search up to depth 0 → not found.</a:t>
            </a:r>
          </a:p>
          <a:p>
            <a:r>
              <a:rPr lang="en-US" dirty="0"/>
              <a:t>Then depth 1 → not found.</a:t>
            </a:r>
          </a:p>
          <a:p>
            <a:r>
              <a:rPr lang="en-US" dirty="0"/>
              <a:t>Then depth 2 → found goal.</a:t>
            </a:r>
            <a:br>
              <a:rPr lang="en-US" dirty="0"/>
            </a:br>
            <a:r>
              <a:rPr lang="en-US" dirty="0"/>
              <a:t>This way, it </a:t>
            </a:r>
            <a:r>
              <a:rPr lang="en-US" b="1" dirty="0"/>
              <a:t>restarts DFS</a:t>
            </a:r>
            <a:r>
              <a:rPr lang="en-US" dirty="0"/>
              <a:t> multiple times but ensures shallower nodes are explored first.</a:t>
            </a:r>
          </a:p>
          <a:p>
            <a:pPr marL="0" indent="0">
              <a:buNone/>
            </a:pPr>
            <a:endParaRPr lang="en-US" dirty="0"/>
          </a:p>
        </p:txBody>
      </p:sp>
    </p:spTree>
    <p:extLst>
      <p:ext uri="{BB962C8B-B14F-4D97-AF65-F5344CB8AC3E}">
        <p14:creationId xmlns:p14="http://schemas.microsoft.com/office/powerpoint/2010/main" val="1886419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2B3C3F-3DEC-873E-091E-EF0E670C4CD7}"/>
              </a:ext>
            </a:extLst>
          </p:cNvPr>
          <p:cNvSpPr>
            <a:spLocks noGrp="1"/>
          </p:cNvSpPr>
          <p:nvPr>
            <p:ph idx="1"/>
          </p:nvPr>
        </p:nvSpPr>
        <p:spPr>
          <a:xfrm>
            <a:off x="254833" y="149902"/>
            <a:ext cx="11767278" cy="6490741"/>
          </a:xfrm>
        </p:spPr>
        <p:txBody>
          <a:bodyPr/>
          <a:lstStyle/>
          <a:p>
            <a:pPr marL="0" indent="0">
              <a:buNone/>
            </a:pPr>
            <a:r>
              <a:rPr lang="en-US" b="1" dirty="0"/>
              <a:t>Benefits</a:t>
            </a:r>
          </a:p>
          <a:p>
            <a:r>
              <a:rPr lang="en-US" b="1" dirty="0"/>
              <a:t>Complete</a:t>
            </a:r>
            <a:r>
              <a:rPr lang="en-US" dirty="0"/>
              <a:t> (will find a solution if it exists).</a:t>
            </a:r>
          </a:p>
          <a:p>
            <a:r>
              <a:rPr lang="en-US" b="1" dirty="0"/>
              <a:t>Optimal</a:t>
            </a:r>
            <a:r>
              <a:rPr lang="en-US" dirty="0"/>
              <a:t> for uniform step cost (like BFS).</a:t>
            </a:r>
          </a:p>
          <a:p>
            <a:r>
              <a:rPr lang="en-US" b="1" dirty="0"/>
              <a:t>Uses less memory</a:t>
            </a:r>
            <a:r>
              <a:rPr lang="en-US" dirty="0"/>
              <a:t> than BFS.</a:t>
            </a:r>
          </a:p>
          <a:p>
            <a:r>
              <a:rPr lang="en-US" dirty="0"/>
              <a:t>Avoids infinite loops like DFS.</a:t>
            </a:r>
          </a:p>
          <a:p>
            <a:pPr marL="0" indent="0">
              <a:buNone/>
            </a:pPr>
            <a:endParaRPr lang="en-US" b="1" dirty="0"/>
          </a:p>
          <a:p>
            <a:pPr marL="0" indent="0">
              <a:buNone/>
            </a:pPr>
            <a:r>
              <a:rPr lang="en-US" b="1" dirty="0"/>
              <a:t> Limitations</a:t>
            </a:r>
          </a:p>
          <a:p>
            <a:r>
              <a:rPr lang="en-US" dirty="0"/>
              <a:t>Some </a:t>
            </a:r>
            <a:r>
              <a:rPr lang="en-US" b="1" dirty="0"/>
              <a:t>redundant exploration</a:t>
            </a:r>
            <a:r>
              <a:rPr lang="en-US" dirty="0"/>
              <a:t> — re-expands nodes at each iteration.</a:t>
            </a:r>
          </a:p>
          <a:p>
            <a:r>
              <a:rPr lang="en-US" dirty="0"/>
              <a:t>Computationally expensive if the </a:t>
            </a:r>
            <a:r>
              <a:rPr lang="en-US" b="1" dirty="0"/>
              <a:t>branching factor is high</a:t>
            </a:r>
            <a:r>
              <a:rPr lang="en-US" dirty="0"/>
              <a:t>.</a:t>
            </a:r>
          </a:p>
          <a:p>
            <a:r>
              <a:rPr lang="en-US" dirty="0"/>
              <a:t>Not suitable when </a:t>
            </a:r>
            <a:r>
              <a:rPr lang="en-US" b="1" dirty="0"/>
              <a:t>step costs vary</a:t>
            </a:r>
            <a:r>
              <a:rPr lang="en-US" dirty="0"/>
              <a:t>.</a:t>
            </a:r>
          </a:p>
          <a:p>
            <a:pPr marL="0" indent="0">
              <a:buNone/>
            </a:pPr>
            <a:endParaRPr lang="en-US" dirty="0"/>
          </a:p>
        </p:txBody>
      </p:sp>
    </p:spTree>
    <p:extLst>
      <p:ext uri="{BB962C8B-B14F-4D97-AF65-F5344CB8AC3E}">
        <p14:creationId xmlns:p14="http://schemas.microsoft.com/office/powerpoint/2010/main" val="4369784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CA3976-EF8C-4601-48FE-CA8A5D93D836}"/>
              </a:ext>
            </a:extLst>
          </p:cNvPr>
          <p:cNvSpPr>
            <a:spLocks noGrp="1"/>
          </p:cNvSpPr>
          <p:nvPr>
            <p:ph idx="1"/>
          </p:nvPr>
        </p:nvSpPr>
        <p:spPr>
          <a:xfrm>
            <a:off x="134911" y="164892"/>
            <a:ext cx="11827240" cy="6520721"/>
          </a:xfrm>
        </p:spPr>
        <p:txBody>
          <a:bodyPr/>
          <a:lstStyle/>
          <a:p>
            <a:pPr marL="0" indent="0" algn="ctr">
              <a:buNone/>
            </a:pPr>
            <a:r>
              <a:rPr lang="en-US" b="1" dirty="0"/>
              <a:t>Comparison between BFS, DFS and IDS</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 </a:t>
            </a:r>
          </a:p>
        </p:txBody>
      </p:sp>
      <p:sp>
        <p:nvSpPr>
          <p:cNvPr id="4" name="AutoShape 2" descr="Lightbox">
            <a:extLst>
              <a:ext uri="{FF2B5EF4-FFF2-40B4-BE49-F238E27FC236}">
                <a16:creationId xmlns:a16="http://schemas.microsoft.com/office/drawing/2014/main" id="{9AEAA4F2-8FF2-B876-3166-C481C50D1B4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a:extLst>
              <a:ext uri="{FF2B5EF4-FFF2-40B4-BE49-F238E27FC236}">
                <a16:creationId xmlns:a16="http://schemas.microsoft.com/office/drawing/2014/main" id="{63CE0E2C-E25A-CFE4-14BD-C253E7957B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4361" y="989351"/>
            <a:ext cx="10133350" cy="4736892"/>
          </a:xfrm>
          <a:prstGeom prst="rect">
            <a:avLst/>
          </a:prstGeom>
        </p:spPr>
      </p:pic>
    </p:spTree>
    <p:extLst>
      <p:ext uri="{BB962C8B-B14F-4D97-AF65-F5344CB8AC3E}">
        <p14:creationId xmlns:p14="http://schemas.microsoft.com/office/powerpoint/2010/main" val="25231118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36063D-DD80-D261-D1A2-66FC2FFC9A40}"/>
              </a:ext>
            </a:extLst>
          </p:cNvPr>
          <p:cNvSpPr>
            <a:spLocks noGrp="1"/>
          </p:cNvSpPr>
          <p:nvPr>
            <p:ph idx="1"/>
          </p:nvPr>
        </p:nvSpPr>
        <p:spPr>
          <a:xfrm>
            <a:off x="239843" y="179882"/>
            <a:ext cx="11782268" cy="6430780"/>
          </a:xfrm>
        </p:spPr>
        <p:txBody>
          <a:bodyPr>
            <a:normAutofit fontScale="92500" lnSpcReduction="10000"/>
          </a:bodyPr>
          <a:lstStyle/>
          <a:p>
            <a:pPr marL="0" indent="0" algn="ctr" fontAlgn="base">
              <a:buNone/>
            </a:pPr>
            <a:r>
              <a:rPr lang="en-US" b="1" dirty="0"/>
              <a:t>Uniform Cost Search </a:t>
            </a:r>
          </a:p>
          <a:p>
            <a:pPr marL="0" indent="0" algn="just" fontAlgn="base">
              <a:buNone/>
            </a:pPr>
            <a:r>
              <a:rPr lang="en-US" dirty="0"/>
              <a:t>This is a pathfinding algorithm that expands the least cost node first, ensuring that the path to the goal node has the minimum cost. Unlike other search algorithms like BFS, UCS takes into account the cost of each path, making it suitable for weighted graphs where each edge has a different cost.</a:t>
            </a:r>
          </a:p>
          <a:p>
            <a:pPr marL="0" indent="0" algn="just" fontAlgn="base">
              <a:buNone/>
            </a:pPr>
            <a:r>
              <a:rPr lang="en-US" b="1" dirty="0"/>
              <a:t>Key Concepts of Uniform Cost Search</a:t>
            </a:r>
          </a:p>
          <a:p>
            <a:pPr algn="just" fontAlgn="base"/>
            <a:r>
              <a:rPr lang="en-US" b="1" dirty="0"/>
              <a:t>Priority Queue:</a:t>
            </a:r>
            <a:r>
              <a:rPr lang="en-US" dirty="0"/>
              <a:t> UCS uses a priority queue to store nodes. The node with the lowest cumulative cost is expanded first. This ensures that the search explores the most promising paths first.</a:t>
            </a:r>
          </a:p>
          <a:p>
            <a:pPr algn="just" fontAlgn="base"/>
            <a:r>
              <a:rPr lang="en-US" b="1" dirty="0"/>
              <a:t>Path Cost:</a:t>
            </a:r>
            <a:r>
              <a:rPr lang="en-US" dirty="0"/>
              <a:t> The cost associated with reaching a particular node from the start node. UCS calculates the cumulative cost from the start node to the current node and prioritizes nodes with lower costs.</a:t>
            </a:r>
          </a:p>
          <a:p>
            <a:pPr algn="just" fontAlgn="base"/>
            <a:r>
              <a:rPr lang="en-US" b="1" dirty="0"/>
              <a:t>Exploration:</a:t>
            </a:r>
            <a:r>
              <a:rPr lang="en-US" dirty="0"/>
              <a:t> UCS explores nodes by expanding the least costly node first, continuing this process until the goal node is reached. The path to the goal node is guaranteed to be the least costly one.</a:t>
            </a:r>
          </a:p>
          <a:p>
            <a:pPr algn="just" fontAlgn="base"/>
            <a:r>
              <a:rPr lang="en-US" b="1" dirty="0"/>
              <a:t>Termination:</a:t>
            </a:r>
            <a:r>
              <a:rPr lang="en-US" dirty="0"/>
              <a:t> The algorithm terminates when the goal node is expanded, ensuring that the first time the goal node is reached, the path is the optimal one.</a:t>
            </a:r>
          </a:p>
          <a:p>
            <a:pPr marL="0" indent="0">
              <a:buNone/>
            </a:pPr>
            <a:endParaRPr lang="en-US" dirty="0"/>
          </a:p>
        </p:txBody>
      </p:sp>
    </p:spTree>
    <p:extLst>
      <p:ext uri="{BB962C8B-B14F-4D97-AF65-F5344CB8AC3E}">
        <p14:creationId xmlns:p14="http://schemas.microsoft.com/office/powerpoint/2010/main" val="6562489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F5A2FE-DE2C-DCA1-13FE-53212EB42FDF}"/>
              </a:ext>
            </a:extLst>
          </p:cNvPr>
          <p:cNvSpPr>
            <a:spLocks noGrp="1"/>
          </p:cNvSpPr>
          <p:nvPr>
            <p:ph idx="1"/>
          </p:nvPr>
        </p:nvSpPr>
        <p:spPr>
          <a:xfrm>
            <a:off x="209861" y="209862"/>
            <a:ext cx="11737299" cy="6370820"/>
          </a:xfrm>
        </p:spPr>
        <p:txBody>
          <a:bodyPr>
            <a:normAutofit lnSpcReduction="10000"/>
          </a:bodyPr>
          <a:lstStyle/>
          <a:p>
            <a:pPr marL="0" indent="0" algn="ctr">
              <a:buNone/>
            </a:pPr>
            <a:r>
              <a:rPr lang="en-US" b="1" dirty="0"/>
              <a:t>How UCS works</a:t>
            </a:r>
          </a:p>
          <a:p>
            <a:pPr fontAlgn="base"/>
            <a:r>
              <a:rPr lang="en-US" b="1" dirty="0"/>
              <a:t>Initialization: </a:t>
            </a:r>
            <a:r>
              <a:rPr lang="en-US" dirty="0"/>
              <a:t>UCS starts with the root node. It is added to the priority queue with a cumulative cost of zero since no steps have been taken yet.</a:t>
            </a:r>
          </a:p>
          <a:p>
            <a:pPr fontAlgn="base"/>
            <a:r>
              <a:rPr lang="en-US" b="1" dirty="0"/>
              <a:t>Node Expansion:</a:t>
            </a:r>
            <a:r>
              <a:rPr lang="en-US" dirty="0"/>
              <a:t> The node with the lowest path cost is removed from the priority queue. This node is then expanded, and its neighbors are explored.</a:t>
            </a:r>
          </a:p>
          <a:p>
            <a:pPr fontAlgn="base"/>
            <a:r>
              <a:rPr lang="en-US" b="1" dirty="0"/>
              <a:t>Exploring Neighbors:</a:t>
            </a:r>
            <a:r>
              <a:rPr lang="en-US" dirty="0"/>
              <a:t> For each neighbor of the expanded node, the algorithm calculates the total cost from the start node to the neighbor through the current node. If a neighbor node is not in the priority queue, it is added to the queue with the calculated cost. If the neighbor is already in the queue but a lower cost path to this neighbor is found, the cost is updated in the queue.</a:t>
            </a:r>
          </a:p>
          <a:p>
            <a:pPr fontAlgn="base"/>
            <a:r>
              <a:rPr lang="en-US" b="1" dirty="0"/>
              <a:t>Goal Check: </a:t>
            </a:r>
            <a:r>
              <a:rPr lang="en-US" dirty="0"/>
              <a:t>After expanding a node, the algorithm checks if it has reached the goal node. If the goal is reached, the algorithm returns the total cost to reach this node and the path taken.</a:t>
            </a:r>
          </a:p>
          <a:p>
            <a:pPr fontAlgn="base"/>
            <a:r>
              <a:rPr lang="en-US" b="1" dirty="0"/>
              <a:t>Repetition:</a:t>
            </a:r>
            <a:r>
              <a:rPr lang="en-US" dirty="0"/>
              <a:t> This process repeats until the priority queue is empty or the goal is reached.</a:t>
            </a:r>
          </a:p>
          <a:p>
            <a:pPr marL="0" indent="0">
              <a:buNone/>
            </a:pPr>
            <a:endParaRPr lang="en-US" dirty="0"/>
          </a:p>
        </p:txBody>
      </p:sp>
    </p:spTree>
    <p:extLst>
      <p:ext uri="{BB962C8B-B14F-4D97-AF65-F5344CB8AC3E}">
        <p14:creationId xmlns:p14="http://schemas.microsoft.com/office/powerpoint/2010/main" val="1040340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586464-33FD-9F3C-05E3-3CB1B3A8E960}"/>
              </a:ext>
            </a:extLst>
          </p:cNvPr>
          <p:cNvSpPr>
            <a:spLocks noGrp="1"/>
          </p:cNvSpPr>
          <p:nvPr>
            <p:ph idx="1"/>
          </p:nvPr>
        </p:nvSpPr>
        <p:spPr>
          <a:xfrm>
            <a:off x="194872" y="194872"/>
            <a:ext cx="11872210" cy="6535712"/>
          </a:xfrm>
        </p:spPr>
        <p:txBody>
          <a:bodyPr/>
          <a:lstStyle/>
          <a:p>
            <a:pPr marL="0" indent="0" algn="ctr" fontAlgn="base">
              <a:buNone/>
            </a:pPr>
            <a:r>
              <a:rPr lang="en-US" b="1" dirty="0"/>
              <a:t>Applications of UCS in AI</a:t>
            </a:r>
          </a:p>
          <a:p>
            <a:pPr marL="0" indent="0" fontAlgn="base">
              <a:buNone/>
            </a:pPr>
            <a:r>
              <a:rPr lang="en-US" dirty="0"/>
              <a:t>Uniform Cost Search is widely applicable in various fields within AI:</a:t>
            </a:r>
          </a:p>
          <a:p>
            <a:pPr fontAlgn="base"/>
            <a:r>
              <a:rPr lang="en-US" b="1" dirty="0"/>
              <a:t>Pathfinding in Maps:</a:t>
            </a:r>
            <a:r>
              <a:rPr lang="en-US" dirty="0"/>
              <a:t> Determining the shortest route between two locations on a map, considering different costs for different paths.</a:t>
            </a:r>
          </a:p>
          <a:p>
            <a:pPr fontAlgn="base"/>
            <a:r>
              <a:rPr lang="en-US" b="1" dirty="0"/>
              <a:t>Network Routing: </a:t>
            </a:r>
            <a:r>
              <a:rPr lang="en-US" dirty="0"/>
              <a:t>Finding the least-cost route in a communication or data network.</a:t>
            </a:r>
          </a:p>
          <a:p>
            <a:pPr fontAlgn="base"/>
            <a:r>
              <a:rPr lang="en-US" b="1" dirty="0"/>
              <a:t>Puzzle Solving: </a:t>
            </a:r>
            <a:r>
              <a:rPr lang="en-US" dirty="0"/>
              <a:t>Solving puzzles where each move has a cost associated with it, such as the sliding tiles puzzle.</a:t>
            </a:r>
          </a:p>
          <a:p>
            <a:pPr fontAlgn="base"/>
            <a:r>
              <a:rPr lang="en-US" b="1" dirty="0"/>
              <a:t>Resource Allocation:</a:t>
            </a:r>
            <a:r>
              <a:rPr lang="en-US" dirty="0"/>
              <a:t> Tasks that involve distributing resources efficiently, where costs are associated with different allocation strategies.</a:t>
            </a:r>
          </a:p>
          <a:p>
            <a:pPr marL="0" indent="0">
              <a:buNone/>
            </a:pPr>
            <a:endParaRPr lang="en-US" dirty="0"/>
          </a:p>
        </p:txBody>
      </p:sp>
    </p:spTree>
    <p:extLst>
      <p:ext uri="{BB962C8B-B14F-4D97-AF65-F5344CB8AC3E}">
        <p14:creationId xmlns:p14="http://schemas.microsoft.com/office/powerpoint/2010/main" val="20870409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23D9AE-7B8A-8E8D-791C-E7FDEF63E501}"/>
              </a:ext>
            </a:extLst>
          </p:cNvPr>
          <p:cNvSpPr>
            <a:spLocks noGrp="1"/>
          </p:cNvSpPr>
          <p:nvPr>
            <p:ph idx="1"/>
          </p:nvPr>
        </p:nvSpPr>
        <p:spPr>
          <a:xfrm>
            <a:off x="179881" y="254833"/>
            <a:ext cx="11767279" cy="6460760"/>
          </a:xfrm>
        </p:spPr>
        <p:txBody>
          <a:bodyPr/>
          <a:lstStyle/>
          <a:p>
            <a:pPr marL="0" indent="0" fontAlgn="base">
              <a:buNone/>
            </a:pPr>
            <a:r>
              <a:rPr lang="en-US" b="1" dirty="0"/>
              <a:t>Advantages of Uniform Cost Search</a:t>
            </a:r>
          </a:p>
          <a:p>
            <a:pPr fontAlgn="base"/>
            <a:r>
              <a:rPr lang="en-US" b="1" dirty="0"/>
              <a:t>Optimality: </a:t>
            </a:r>
            <a:r>
              <a:rPr lang="en-US" dirty="0"/>
              <a:t>UCS is guaranteed to find the least cost path to the goal state if the cost of each step exceeds zero.</a:t>
            </a:r>
          </a:p>
          <a:p>
            <a:pPr fontAlgn="base"/>
            <a:r>
              <a:rPr lang="en-US" b="1" dirty="0"/>
              <a:t>Completeness: </a:t>
            </a:r>
            <a:r>
              <a:rPr lang="en-US" dirty="0"/>
              <a:t>This algorithm is complete; it will find a solution if one exists.</a:t>
            </a:r>
          </a:p>
          <a:p>
            <a:pPr fontAlgn="base"/>
            <a:r>
              <a:rPr lang="en-US" dirty="0"/>
              <a:t>Handles different step costs effectively</a:t>
            </a:r>
          </a:p>
          <a:p>
            <a:pPr marL="0" indent="0" fontAlgn="base">
              <a:buNone/>
            </a:pPr>
            <a:endParaRPr lang="en-US" dirty="0"/>
          </a:p>
          <a:p>
            <a:pPr marL="0" indent="0" fontAlgn="base">
              <a:buNone/>
            </a:pPr>
            <a:r>
              <a:rPr lang="en-US" b="1" dirty="0"/>
              <a:t>Challenges with UCS</a:t>
            </a:r>
          </a:p>
          <a:p>
            <a:pPr fontAlgn="base"/>
            <a:r>
              <a:rPr lang="en-US" dirty="0"/>
              <a:t>Can be slow and memory-intensive (especially with large state spaces).</a:t>
            </a:r>
          </a:p>
          <a:p>
            <a:pPr fontAlgn="base"/>
            <a:r>
              <a:rPr lang="en-US" dirty="0"/>
              <a:t>Re-explores nodes if cheaper paths are found.</a:t>
            </a:r>
          </a:p>
          <a:p>
            <a:pPr fontAlgn="base"/>
            <a:r>
              <a:rPr lang="en-US" dirty="0"/>
              <a:t>Performance worsens when many paths have similar costs.</a:t>
            </a:r>
          </a:p>
          <a:p>
            <a:pPr marL="0" indent="0">
              <a:buNone/>
            </a:pPr>
            <a:endParaRPr lang="en-US" dirty="0"/>
          </a:p>
        </p:txBody>
      </p:sp>
    </p:spTree>
    <p:extLst>
      <p:ext uri="{BB962C8B-B14F-4D97-AF65-F5344CB8AC3E}">
        <p14:creationId xmlns:p14="http://schemas.microsoft.com/office/powerpoint/2010/main" val="26578761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00CE3F-E832-69B7-C699-CC4447FFA6E7}"/>
              </a:ext>
            </a:extLst>
          </p:cNvPr>
          <p:cNvSpPr>
            <a:spLocks noGrp="1"/>
          </p:cNvSpPr>
          <p:nvPr>
            <p:ph idx="1"/>
          </p:nvPr>
        </p:nvSpPr>
        <p:spPr>
          <a:xfrm>
            <a:off x="164891" y="239842"/>
            <a:ext cx="11797259" cy="6385809"/>
          </a:xfrm>
        </p:spPr>
        <p:txBody>
          <a:bodyPr/>
          <a:lstStyle/>
          <a:p>
            <a:pPr marL="0" indent="0">
              <a:buNone/>
            </a:pPr>
            <a:r>
              <a:rPr lang="en-US" b="1" dirty="0"/>
              <a:t>Applications</a:t>
            </a:r>
          </a:p>
          <a:p>
            <a:r>
              <a:rPr lang="en-US" b="1" dirty="0"/>
              <a:t>Navigation systems</a:t>
            </a:r>
            <a:r>
              <a:rPr lang="en-US" dirty="0"/>
              <a:t> (e.g., Google Maps shortest route).</a:t>
            </a:r>
          </a:p>
          <a:p>
            <a:r>
              <a:rPr lang="en-US" b="1" dirty="0"/>
              <a:t>Robot motion planning</a:t>
            </a:r>
            <a:r>
              <a:rPr lang="en-US" dirty="0"/>
              <a:t>.</a:t>
            </a:r>
          </a:p>
          <a:p>
            <a:r>
              <a:rPr lang="en-US" b="1" dirty="0"/>
              <a:t>Optimal scheduling and resource allocation</a:t>
            </a:r>
            <a:r>
              <a:rPr lang="en-US" dirty="0"/>
              <a:t>.</a:t>
            </a:r>
          </a:p>
          <a:p>
            <a:r>
              <a:rPr lang="en-US" b="1" dirty="0"/>
              <a:t>Telecommunication routing</a:t>
            </a:r>
            <a:r>
              <a:rPr lang="en-US" dirty="0"/>
              <a:t>.</a:t>
            </a:r>
          </a:p>
          <a:p>
            <a:pPr marL="0" indent="0">
              <a:buNone/>
            </a:pPr>
            <a:endParaRPr lang="en-US" dirty="0"/>
          </a:p>
        </p:txBody>
      </p:sp>
    </p:spTree>
    <p:extLst>
      <p:ext uri="{BB962C8B-B14F-4D97-AF65-F5344CB8AC3E}">
        <p14:creationId xmlns:p14="http://schemas.microsoft.com/office/powerpoint/2010/main" val="37219790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88301D-0932-16AD-3175-7C227A7ABE2C}"/>
              </a:ext>
            </a:extLst>
          </p:cNvPr>
          <p:cNvSpPr>
            <a:spLocks noGrp="1"/>
          </p:cNvSpPr>
          <p:nvPr>
            <p:ph idx="1"/>
          </p:nvPr>
        </p:nvSpPr>
        <p:spPr>
          <a:xfrm>
            <a:off x="254833" y="164892"/>
            <a:ext cx="11767278" cy="6565692"/>
          </a:xfrm>
        </p:spPr>
        <p:txBody>
          <a:bodyPr/>
          <a:lstStyle/>
          <a:p>
            <a:pPr marL="0" indent="0" algn="ctr">
              <a:buNone/>
            </a:pPr>
            <a:r>
              <a:rPr lang="en-US" b="1" dirty="0"/>
              <a:t>Bidirectional Search in AI</a:t>
            </a:r>
          </a:p>
          <a:p>
            <a:pPr marL="0" indent="0">
              <a:buNone/>
            </a:pPr>
            <a:r>
              <a:rPr lang="en-US" dirty="0"/>
              <a:t>Bidirectional search in AI is an algorithm that searches simultaneously from both the initial state and the goal state, meeting in the middle to reduce search time. </a:t>
            </a:r>
          </a:p>
          <a:p>
            <a:pPr marL="0" indent="0">
              <a:buNone/>
            </a:pPr>
            <a:r>
              <a:rPr lang="en-US" dirty="0"/>
              <a:t>Bidirectional Search simultaneously searches </a:t>
            </a:r>
            <a:r>
              <a:rPr lang="en-US" b="1" dirty="0"/>
              <a:t>forward from the start node</a:t>
            </a:r>
            <a:r>
              <a:rPr lang="en-US" dirty="0"/>
              <a:t> and </a:t>
            </a:r>
            <a:r>
              <a:rPr lang="en-US" b="1" dirty="0"/>
              <a:t>backward from the goal node</a:t>
            </a:r>
            <a:r>
              <a:rPr lang="en-US" dirty="0"/>
              <a:t>, stopping when the two searches meet.</a:t>
            </a:r>
            <a:br>
              <a:rPr lang="en-US" dirty="0"/>
            </a:br>
            <a:r>
              <a:rPr lang="en-US" dirty="0"/>
              <a:t>This drastically reduces the search space.</a:t>
            </a:r>
          </a:p>
          <a:p>
            <a:pPr marL="0" indent="0">
              <a:buNone/>
            </a:pPr>
            <a:r>
              <a:rPr lang="en-US" b="1" dirty="0"/>
              <a:t>			Algorithm Steps</a:t>
            </a:r>
          </a:p>
          <a:p>
            <a:r>
              <a:rPr lang="en-US" dirty="0"/>
              <a:t>Initialize two frontiers:</a:t>
            </a:r>
          </a:p>
          <a:p>
            <a:pPr lvl="1"/>
            <a:r>
              <a:rPr lang="en-US" b="1" dirty="0"/>
              <a:t>Forward search</a:t>
            </a:r>
            <a:r>
              <a:rPr lang="en-US" dirty="0"/>
              <a:t> from start node.</a:t>
            </a:r>
          </a:p>
          <a:p>
            <a:pPr lvl="1"/>
            <a:r>
              <a:rPr lang="en-US" b="1" dirty="0"/>
              <a:t>Backward search</a:t>
            </a:r>
            <a:r>
              <a:rPr lang="en-US" dirty="0"/>
              <a:t> from goal node.</a:t>
            </a:r>
          </a:p>
          <a:p>
            <a:r>
              <a:rPr lang="en-US" dirty="0"/>
              <a:t>Expand one level alternately from both directions.</a:t>
            </a:r>
          </a:p>
          <a:p>
            <a:r>
              <a:rPr lang="en-US" dirty="0"/>
              <a:t>When the frontiers meet (common node found), reconstruct the full path.</a:t>
            </a:r>
          </a:p>
          <a:p>
            <a:pPr marL="0" indent="0">
              <a:buNone/>
            </a:pPr>
            <a:endParaRPr lang="en-US" dirty="0"/>
          </a:p>
        </p:txBody>
      </p:sp>
    </p:spTree>
    <p:extLst>
      <p:ext uri="{BB962C8B-B14F-4D97-AF65-F5344CB8AC3E}">
        <p14:creationId xmlns:p14="http://schemas.microsoft.com/office/powerpoint/2010/main" val="16839520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6C608D-B712-5A0B-D2A6-5B7CFD3B766B}"/>
              </a:ext>
            </a:extLst>
          </p:cNvPr>
          <p:cNvSpPr>
            <a:spLocks noGrp="1"/>
          </p:cNvSpPr>
          <p:nvPr>
            <p:ph idx="1"/>
          </p:nvPr>
        </p:nvSpPr>
        <p:spPr>
          <a:xfrm>
            <a:off x="254833" y="254833"/>
            <a:ext cx="11722308" cy="6460760"/>
          </a:xfrm>
        </p:spPr>
        <p:txBody>
          <a:bodyPr>
            <a:normAutofit/>
          </a:bodyPr>
          <a:lstStyle/>
          <a:p>
            <a:pPr marL="0" indent="0" algn="just" fontAlgn="base">
              <a:buNone/>
            </a:pPr>
            <a:r>
              <a:rPr lang="en-US" dirty="0"/>
              <a:t>Bidirectional search is an effective search technique used in the field of AI for finding the shortest path between an initial and a goal state. </a:t>
            </a:r>
          </a:p>
          <a:p>
            <a:pPr marL="0" indent="0" algn="just" fontAlgn="base">
              <a:buNone/>
            </a:pPr>
            <a:r>
              <a:rPr lang="en-US" dirty="0"/>
              <a:t>It operates by simultaneously running two separate search processes, one forward from the initial state and the other backward from the goal state.</a:t>
            </a:r>
          </a:p>
          <a:p>
            <a:pPr marL="0" indent="0" algn="just" fontAlgn="base">
              <a:buNone/>
            </a:pPr>
            <a:r>
              <a:rPr lang="en-US" dirty="0"/>
              <a:t> The search stops when the two processes meet in the middle.</a:t>
            </a:r>
          </a:p>
          <a:p>
            <a:pPr marL="0" indent="0" algn="just" fontAlgn="base">
              <a:buNone/>
            </a:pPr>
            <a:r>
              <a:rPr lang="en-US" dirty="0"/>
              <a:t> This method is particularly useful in large search spaces where traditional search techniques like DFS or BFS may be inefficient.</a:t>
            </a:r>
          </a:p>
          <a:p>
            <a:pPr marL="0" indent="0">
              <a:buNone/>
            </a:pPr>
            <a:endParaRPr lang="en-US" dirty="0"/>
          </a:p>
        </p:txBody>
      </p:sp>
    </p:spTree>
    <p:extLst>
      <p:ext uri="{BB962C8B-B14F-4D97-AF65-F5344CB8AC3E}">
        <p14:creationId xmlns:p14="http://schemas.microsoft.com/office/powerpoint/2010/main" val="33527349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09B22A-223B-7AF1-BDCA-A019C1B18024}"/>
              </a:ext>
            </a:extLst>
          </p:cNvPr>
          <p:cNvSpPr>
            <a:spLocks noGrp="1"/>
          </p:cNvSpPr>
          <p:nvPr>
            <p:ph idx="1"/>
          </p:nvPr>
        </p:nvSpPr>
        <p:spPr>
          <a:xfrm>
            <a:off x="164891" y="239842"/>
            <a:ext cx="11842229" cy="6370819"/>
          </a:xfrm>
        </p:spPr>
        <p:txBody>
          <a:bodyPr>
            <a:normAutofit lnSpcReduction="10000"/>
          </a:bodyPr>
          <a:lstStyle/>
          <a:p>
            <a:pPr marL="0" indent="0" fontAlgn="base">
              <a:buNone/>
            </a:pPr>
            <a:r>
              <a:rPr lang="en-US" b="1" dirty="0"/>
              <a:t>How Bidirectional Search Works?</a:t>
            </a:r>
          </a:p>
          <a:p>
            <a:pPr marL="0" indent="0" fontAlgn="base">
              <a:buNone/>
            </a:pPr>
            <a:r>
              <a:rPr lang="en-US" dirty="0"/>
              <a:t>Bidirectional search uses two simultaneous searches to potentially reduce the total search time. </a:t>
            </a:r>
          </a:p>
          <a:p>
            <a:pPr fontAlgn="base"/>
            <a:r>
              <a:rPr lang="en-US" b="1" dirty="0"/>
              <a:t>Initial Setup:</a:t>
            </a:r>
            <a:r>
              <a:rPr lang="en-US" dirty="0"/>
              <a:t> Initialize two searches. One starts from the initial state and expands forward. The other starts from the goal state and expands backward.</a:t>
            </a:r>
          </a:p>
          <a:p>
            <a:pPr fontAlgn="base"/>
            <a:r>
              <a:rPr lang="en-US" b="1" dirty="0"/>
              <a:t>Node Expansion: </a:t>
            </a:r>
            <a:r>
              <a:rPr lang="en-US" dirty="0"/>
              <a:t>Both searches alternately expand the nearest unexplored node. For each node, all possible successors (in the forward direction) or predecessors (in the backward direction) are generated.</a:t>
            </a:r>
          </a:p>
          <a:p>
            <a:pPr fontAlgn="base"/>
            <a:r>
              <a:rPr lang="en-US" b="1" dirty="0"/>
              <a:t>Checking Intersections: </a:t>
            </a:r>
            <a:r>
              <a:rPr lang="en-US" dirty="0"/>
              <a:t>After each expansion, check if any of the newly generated nodes are present in the frontier of the opposite search.</a:t>
            </a:r>
          </a:p>
          <a:p>
            <a:pPr fontAlgn="base"/>
            <a:r>
              <a:rPr lang="en-US" b="1" dirty="0"/>
              <a:t>Meeting Point:</a:t>
            </a:r>
            <a:r>
              <a:rPr lang="en-US" dirty="0"/>
              <a:t> Once a common node is discovered, this node acts as the meeting point and the optimal path can be constructed by joining the paths from the initial state to the meeting point and from the meeting point to the goal state.</a:t>
            </a:r>
          </a:p>
          <a:p>
            <a:pPr marL="0" indent="0">
              <a:buNone/>
            </a:pPr>
            <a:endParaRPr lang="en-US" dirty="0"/>
          </a:p>
        </p:txBody>
      </p:sp>
    </p:spTree>
    <p:extLst>
      <p:ext uri="{BB962C8B-B14F-4D97-AF65-F5344CB8AC3E}">
        <p14:creationId xmlns:p14="http://schemas.microsoft.com/office/powerpoint/2010/main" val="40043390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96C9B4-3C65-75F7-3421-C7FAEEDA2079}"/>
              </a:ext>
            </a:extLst>
          </p:cNvPr>
          <p:cNvSpPr>
            <a:spLocks noGrp="1"/>
          </p:cNvSpPr>
          <p:nvPr>
            <p:ph idx="1"/>
          </p:nvPr>
        </p:nvSpPr>
        <p:spPr>
          <a:xfrm>
            <a:off x="224852" y="224852"/>
            <a:ext cx="11812250" cy="6460761"/>
          </a:xfrm>
        </p:spPr>
        <p:txBody>
          <a:bodyPr/>
          <a:lstStyle/>
          <a:p>
            <a:pPr marL="0" indent="0" fontAlgn="base">
              <a:buNone/>
            </a:pPr>
            <a:r>
              <a:rPr lang="en-US" b="1" dirty="0"/>
              <a:t>Practical Applications of Bidirectional Search in AI</a:t>
            </a:r>
          </a:p>
          <a:p>
            <a:pPr fontAlgn="base"/>
            <a:r>
              <a:rPr lang="en-US" b="1" dirty="0"/>
              <a:t>Pathfinding in AI Navigation Systems: </a:t>
            </a:r>
            <a:r>
              <a:rPr lang="en-US" dirty="0"/>
              <a:t>Commonly used in scenarios ranging from GPS navigation to movement planning in robotics.</a:t>
            </a:r>
          </a:p>
          <a:p>
            <a:pPr fontAlgn="base"/>
            <a:r>
              <a:rPr lang="en-US" b="1" dirty="0"/>
              <a:t>Puzzle Solving: </a:t>
            </a:r>
            <a:r>
              <a:rPr lang="en-US" dirty="0"/>
              <a:t>Effective in games and puzzle-solving where a clear goal state is defined, such as in solving Rubik's Cube.</a:t>
            </a:r>
          </a:p>
          <a:p>
            <a:pPr fontAlgn="base"/>
            <a:r>
              <a:rPr lang="en-US" b="1" dirty="0"/>
              <a:t>Network Analysis: </a:t>
            </a:r>
            <a:r>
              <a:rPr lang="en-US" dirty="0"/>
              <a:t>Useful in social network analysis, where connections between entities (like finding the degree of separation between two people) need to be established quickly.</a:t>
            </a:r>
          </a:p>
          <a:p>
            <a:pPr marL="0" indent="0">
              <a:buNone/>
            </a:pPr>
            <a:endParaRPr lang="en-US" dirty="0"/>
          </a:p>
        </p:txBody>
      </p:sp>
    </p:spTree>
    <p:extLst>
      <p:ext uri="{BB962C8B-B14F-4D97-AF65-F5344CB8AC3E}">
        <p14:creationId xmlns:p14="http://schemas.microsoft.com/office/powerpoint/2010/main" val="21877525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4AC9FE-4213-BDE1-52A8-32B6697E61CF}"/>
              </a:ext>
            </a:extLst>
          </p:cNvPr>
          <p:cNvSpPr>
            <a:spLocks noGrp="1"/>
          </p:cNvSpPr>
          <p:nvPr>
            <p:ph idx="1"/>
          </p:nvPr>
        </p:nvSpPr>
        <p:spPr>
          <a:xfrm>
            <a:off x="209861" y="179882"/>
            <a:ext cx="11767279" cy="6520721"/>
          </a:xfrm>
        </p:spPr>
        <p:txBody>
          <a:bodyPr>
            <a:normAutofit/>
          </a:bodyPr>
          <a:lstStyle/>
          <a:p>
            <a:pPr marL="0" indent="0" fontAlgn="base">
              <a:buNone/>
            </a:pPr>
            <a:r>
              <a:rPr lang="en-US" b="1" dirty="0"/>
              <a:t>Benefits of Bidirectional Search</a:t>
            </a:r>
          </a:p>
          <a:p>
            <a:pPr fontAlgn="base"/>
            <a:r>
              <a:rPr lang="en-US" b="1" dirty="0"/>
              <a:t>Efficiency: </a:t>
            </a:r>
            <a:r>
              <a:rPr lang="en-US" dirty="0"/>
              <a:t>The most notable advantage is its speed. By simultaneously searching from both ends towards the middle it reduces the search space dramatically, often leading to quicker results. Time complexity reduces from O(bᵈ) to O(b^(d/2)).</a:t>
            </a:r>
          </a:p>
          <a:p>
            <a:pPr fontAlgn="base"/>
            <a:r>
              <a:rPr lang="en-US" b="1" dirty="0"/>
              <a:t>Optimality: </a:t>
            </a:r>
            <a:r>
              <a:rPr lang="en-US" dirty="0"/>
              <a:t>When used with uniform-cost search strategies, bidirectional search is guaranteed to find an optimal solution if one exists.</a:t>
            </a:r>
          </a:p>
          <a:p>
            <a:pPr fontAlgn="base"/>
            <a:r>
              <a:rPr lang="en-US" b="1" dirty="0"/>
              <a:t>Reduced Memory Footprint:</a:t>
            </a:r>
            <a:r>
              <a:rPr lang="en-US" dirty="0"/>
              <a:t> It often requires less memory than traditional algorithms like BFS, especially in densely connected graphs or large search spaces.</a:t>
            </a:r>
          </a:p>
          <a:p>
            <a:pPr fontAlgn="base"/>
            <a:r>
              <a:rPr lang="en-US" dirty="0"/>
              <a:t>Good for </a:t>
            </a:r>
            <a:r>
              <a:rPr lang="en-US" b="1" dirty="0"/>
              <a:t>large search spaces</a:t>
            </a:r>
            <a:r>
              <a:rPr lang="en-US" dirty="0"/>
              <a:t>.</a:t>
            </a:r>
          </a:p>
          <a:p>
            <a:pPr marL="0" indent="0">
              <a:buNone/>
            </a:pPr>
            <a:endParaRPr lang="en-US" dirty="0"/>
          </a:p>
        </p:txBody>
      </p:sp>
    </p:spTree>
    <p:extLst>
      <p:ext uri="{BB962C8B-B14F-4D97-AF65-F5344CB8AC3E}">
        <p14:creationId xmlns:p14="http://schemas.microsoft.com/office/powerpoint/2010/main" val="24306933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85CD9F-A930-ED7B-A079-E7DB149B8763}"/>
              </a:ext>
            </a:extLst>
          </p:cNvPr>
          <p:cNvSpPr>
            <a:spLocks noGrp="1"/>
          </p:cNvSpPr>
          <p:nvPr>
            <p:ph idx="1"/>
          </p:nvPr>
        </p:nvSpPr>
        <p:spPr>
          <a:xfrm>
            <a:off x="284813" y="224852"/>
            <a:ext cx="11722308" cy="6400800"/>
          </a:xfrm>
        </p:spPr>
        <p:txBody>
          <a:bodyPr/>
          <a:lstStyle/>
          <a:p>
            <a:pPr marL="0" indent="0" fontAlgn="base">
              <a:buNone/>
            </a:pPr>
            <a:r>
              <a:rPr lang="en-US" b="1" dirty="0"/>
              <a:t>Challenges and Considerations</a:t>
            </a:r>
          </a:p>
          <a:p>
            <a:pPr fontAlgn="base"/>
            <a:r>
              <a:rPr lang="en-US" b="1" dirty="0"/>
              <a:t>Implementation Complexity: </a:t>
            </a:r>
            <a:r>
              <a:rPr lang="en-US" dirty="0"/>
              <a:t>Managing two simultaneous searches and ensuring they meet optimally can be complex compared to unidirectional strategies.</a:t>
            </a:r>
          </a:p>
          <a:p>
            <a:pPr fontAlgn="base"/>
            <a:r>
              <a:rPr lang="en-US" b="1" dirty="0"/>
              <a:t>Memory Management: </a:t>
            </a:r>
            <a:r>
              <a:rPr lang="en-US" dirty="0"/>
              <a:t>While generally less memory-intensive than some alternatives, bidirectional search still requires careful management of both search frontiers.</a:t>
            </a:r>
          </a:p>
          <a:p>
            <a:pPr fontAlgn="base"/>
            <a:r>
              <a:rPr lang="en-US" b="1" dirty="0"/>
              <a:t>Applicability:</a:t>
            </a:r>
            <a:r>
              <a:rPr lang="en-US" dirty="0"/>
              <a:t> It's not suitable for all problems. For instance, it's most effective in searchable spaces where both forward and backward expansion are feasible and meaningful.</a:t>
            </a:r>
          </a:p>
          <a:p>
            <a:pPr fontAlgn="base"/>
            <a:r>
              <a:rPr lang="en-US" dirty="0"/>
              <a:t>Requires the goal state to be explicitly known.</a:t>
            </a:r>
          </a:p>
          <a:p>
            <a:pPr fontAlgn="base"/>
            <a:r>
              <a:rPr lang="en-US" dirty="0"/>
              <a:t>Hard to implement when the state space is complex or asymmetric.</a:t>
            </a:r>
          </a:p>
          <a:p>
            <a:pPr marL="0" indent="0">
              <a:buNone/>
            </a:pPr>
            <a:endParaRPr lang="en-US" dirty="0"/>
          </a:p>
        </p:txBody>
      </p:sp>
    </p:spTree>
    <p:extLst>
      <p:ext uri="{BB962C8B-B14F-4D97-AF65-F5344CB8AC3E}">
        <p14:creationId xmlns:p14="http://schemas.microsoft.com/office/powerpoint/2010/main" val="32171927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BB165E-E4D7-0CF5-E0AE-84CEBBA5BEBE}"/>
              </a:ext>
            </a:extLst>
          </p:cNvPr>
          <p:cNvSpPr>
            <a:spLocks noGrp="1"/>
          </p:cNvSpPr>
          <p:nvPr>
            <p:ph idx="1"/>
          </p:nvPr>
        </p:nvSpPr>
        <p:spPr>
          <a:xfrm>
            <a:off x="149902" y="269823"/>
            <a:ext cx="11902190" cy="6415790"/>
          </a:xfrm>
        </p:spPr>
        <p:txBody>
          <a:bodyPr/>
          <a:lstStyle/>
          <a:p>
            <a:pPr marL="0" indent="0">
              <a:buNone/>
            </a:pPr>
            <a:r>
              <a:rPr lang="en-US" b="1" dirty="0"/>
              <a:t>Comparative Summary of Uninformed Search Algorithms</a:t>
            </a:r>
          </a:p>
          <a:p>
            <a:pPr marL="0" indent="0">
              <a:buNone/>
            </a:pPr>
            <a:endParaRPr lang="en-US" dirty="0"/>
          </a:p>
        </p:txBody>
      </p:sp>
      <p:graphicFrame>
        <p:nvGraphicFramePr>
          <p:cNvPr id="2" name="Table 1">
            <a:extLst>
              <a:ext uri="{FF2B5EF4-FFF2-40B4-BE49-F238E27FC236}">
                <a16:creationId xmlns:a16="http://schemas.microsoft.com/office/drawing/2014/main" id="{CD2641BD-94BF-0BAC-7BCE-4CCC8A012C37}"/>
              </a:ext>
            </a:extLst>
          </p:cNvPr>
          <p:cNvGraphicFramePr>
            <a:graphicFrameLocks noGrp="1"/>
          </p:cNvGraphicFramePr>
          <p:nvPr>
            <p:extLst>
              <p:ext uri="{D42A27DB-BD31-4B8C-83A1-F6EECF244321}">
                <p14:modId xmlns:p14="http://schemas.microsoft.com/office/powerpoint/2010/main" val="398333559"/>
              </p:ext>
            </p:extLst>
          </p:nvPr>
        </p:nvGraphicFramePr>
        <p:xfrm>
          <a:off x="599608" y="944381"/>
          <a:ext cx="11032756" cy="5643797"/>
        </p:xfrm>
        <a:graphic>
          <a:graphicData uri="http://schemas.openxmlformats.org/drawingml/2006/table">
            <a:tbl>
              <a:tblPr/>
              <a:tblGrid>
                <a:gridCol w="1576108">
                  <a:extLst>
                    <a:ext uri="{9D8B030D-6E8A-4147-A177-3AD203B41FA5}">
                      <a16:colId xmlns:a16="http://schemas.microsoft.com/office/drawing/2014/main" val="1318112095"/>
                    </a:ext>
                  </a:extLst>
                </a:gridCol>
                <a:gridCol w="1576108">
                  <a:extLst>
                    <a:ext uri="{9D8B030D-6E8A-4147-A177-3AD203B41FA5}">
                      <a16:colId xmlns:a16="http://schemas.microsoft.com/office/drawing/2014/main" val="1075975916"/>
                    </a:ext>
                  </a:extLst>
                </a:gridCol>
                <a:gridCol w="1576108">
                  <a:extLst>
                    <a:ext uri="{9D8B030D-6E8A-4147-A177-3AD203B41FA5}">
                      <a16:colId xmlns:a16="http://schemas.microsoft.com/office/drawing/2014/main" val="911122103"/>
                    </a:ext>
                  </a:extLst>
                </a:gridCol>
                <a:gridCol w="1576108">
                  <a:extLst>
                    <a:ext uri="{9D8B030D-6E8A-4147-A177-3AD203B41FA5}">
                      <a16:colId xmlns:a16="http://schemas.microsoft.com/office/drawing/2014/main" val="3109417072"/>
                    </a:ext>
                  </a:extLst>
                </a:gridCol>
                <a:gridCol w="1576108">
                  <a:extLst>
                    <a:ext uri="{9D8B030D-6E8A-4147-A177-3AD203B41FA5}">
                      <a16:colId xmlns:a16="http://schemas.microsoft.com/office/drawing/2014/main" val="2184653154"/>
                    </a:ext>
                  </a:extLst>
                </a:gridCol>
                <a:gridCol w="1576108">
                  <a:extLst>
                    <a:ext uri="{9D8B030D-6E8A-4147-A177-3AD203B41FA5}">
                      <a16:colId xmlns:a16="http://schemas.microsoft.com/office/drawing/2014/main" val="977022190"/>
                    </a:ext>
                  </a:extLst>
                </a:gridCol>
                <a:gridCol w="1576108">
                  <a:extLst>
                    <a:ext uri="{9D8B030D-6E8A-4147-A177-3AD203B41FA5}">
                      <a16:colId xmlns:a16="http://schemas.microsoft.com/office/drawing/2014/main" val="3100470232"/>
                    </a:ext>
                  </a:extLst>
                </a:gridCol>
              </a:tblGrid>
              <a:tr h="693098">
                <a:tc>
                  <a:txBody>
                    <a:bodyPr/>
                    <a:lstStyle/>
                    <a:p>
                      <a:pPr>
                        <a:buNone/>
                      </a:pPr>
                      <a:r>
                        <a:rPr lang="en-US" sz="1500" b="1"/>
                        <a:t>Algorithm</a:t>
                      </a:r>
                      <a:endParaRPr lang="en-US" sz="1500"/>
                    </a:p>
                  </a:txBody>
                  <a:tcPr marL="76339" marR="76339" marT="38170" marB="38170" anchor="ctr">
                    <a:lnL>
                      <a:noFill/>
                    </a:lnL>
                    <a:lnR>
                      <a:noFill/>
                    </a:lnR>
                    <a:lnT>
                      <a:noFill/>
                    </a:lnT>
                    <a:lnB>
                      <a:noFill/>
                    </a:lnB>
                    <a:noFill/>
                  </a:tcPr>
                </a:tc>
                <a:tc>
                  <a:txBody>
                    <a:bodyPr/>
                    <a:lstStyle/>
                    <a:p>
                      <a:pPr>
                        <a:buNone/>
                      </a:pPr>
                      <a:r>
                        <a:rPr lang="en-US" sz="1500" b="1"/>
                        <a:t>Data Structure</a:t>
                      </a:r>
                      <a:endParaRPr lang="en-US" sz="1500"/>
                    </a:p>
                  </a:txBody>
                  <a:tcPr marL="76339" marR="76339" marT="38170" marB="38170" anchor="ctr">
                    <a:lnL>
                      <a:noFill/>
                    </a:lnL>
                    <a:lnR>
                      <a:noFill/>
                    </a:lnR>
                    <a:lnT>
                      <a:noFill/>
                    </a:lnT>
                    <a:lnB>
                      <a:noFill/>
                    </a:lnB>
                    <a:noFill/>
                  </a:tcPr>
                </a:tc>
                <a:tc>
                  <a:txBody>
                    <a:bodyPr/>
                    <a:lstStyle/>
                    <a:p>
                      <a:pPr>
                        <a:buNone/>
                      </a:pPr>
                      <a:r>
                        <a:rPr lang="en-US" sz="1500" b="1"/>
                        <a:t>Complete?</a:t>
                      </a:r>
                      <a:endParaRPr lang="en-US" sz="1500"/>
                    </a:p>
                  </a:txBody>
                  <a:tcPr marL="76339" marR="76339" marT="38170" marB="38170" anchor="ctr">
                    <a:lnL>
                      <a:noFill/>
                    </a:lnL>
                    <a:lnR>
                      <a:noFill/>
                    </a:lnR>
                    <a:lnT>
                      <a:noFill/>
                    </a:lnT>
                    <a:lnB>
                      <a:noFill/>
                    </a:lnB>
                    <a:noFill/>
                  </a:tcPr>
                </a:tc>
                <a:tc>
                  <a:txBody>
                    <a:bodyPr/>
                    <a:lstStyle/>
                    <a:p>
                      <a:pPr>
                        <a:buNone/>
                      </a:pPr>
                      <a:r>
                        <a:rPr lang="en-US" sz="1500" b="1"/>
                        <a:t>Optimal?</a:t>
                      </a:r>
                      <a:endParaRPr lang="en-US" sz="1500"/>
                    </a:p>
                  </a:txBody>
                  <a:tcPr marL="76339" marR="76339" marT="38170" marB="38170" anchor="ctr">
                    <a:lnL>
                      <a:noFill/>
                    </a:lnL>
                    <a:lnR>
                      <a:noFill/>
                    </a:lnR>
                    <a:lnT>
                      <a:noFill/>
                    </a:lnT>
                    <a:lnB>
                      <a:noFill/>
                    </a:lnB>
                    <a:noFill/>
                  </a:tcPr>
                </a:tc>
                <a:tc>
                  <a:txBody>
                    <a:bodyPr/>
                    <a:lstStyle/>
                    <a:p>
                      <a:pPr>
                        <a:buNone/>
                      </a:pPr>
                      <a:r>
                        <a:rPr lang="en-US" sz="1500" b="1"/>
                        <a:t>Time Complexity</a:t>
                      </a:r>
                      <a:endParaRPr lang="en-US" sz="1500"/>
                    </a:p>
                  </a:txBody>
                  <a:tcPr marL="76339" marR="76339" marT="38170" marB="38170" anchor="ctr">
                    <a:lnL>
                      <a:noFill/>
                    </a:lnL>
                    <a:lnR>
                      <a:noFill/>
                    </a:lnR>
                    <a:lnT>
                      <a:noFill/>
                    </a:lnT>
                    <a:lnB>
                      <a:noFill/>
                    </a:lnB>
                    <a:noFill/>
                  </a:tcPr>
                </a:tc>
                <a:tc>
                  <a:txBody>
                    <a:bodyPr/>
                    <a:lstStyle/>
                    <a:p>
                      <a:pPr>
                        <a:buNone/>
                      </a:pPr>
                      <a:r>
                        <a:rPr lang="en-US" sz="1500" b="1"/>
                        <a:t>Space Complexity</a:t>
                      </a:r>
                      <a:endParaRPr lang="en-US" sz="1500"/>
                    </a:p>
                  </a:txBody>
                  <a:tcPr marL="76339" marR="76339" marT="38170" marB="38170" anchor="ctr">
                    <a:lnL>
                      <a:noFill/>
                    </a:lnL>
                    <a:lnR>
                      <a:noFill/>
                    </a:lnR>
                    <a:lnT>
                      <a:noFill/>
                    </a:lnT>
                    <a:lnB>
                      <a:noFill/>
                    </a:lnB>
                    <a:noFill/>
                  </a:tcPr>
                </a:tc>
                <a:tc>
                  <a:txBody>
                    <a:bodyPr/>
                    <a:lstStyle/>
                    <a:p>
                      <a:pPr>
                        <a:buNone/>
                      </a:pPr>
                      <a:r>
                        <a:rPr lang="en-US" sz="1500" b="1"/>
                        <a:t>Remarks</a:t>
                      </a:r>
                      <a:endParaRPr lang="en-US" sz="1500"/>
                    </a:p>
                  </a:txBody>
                  <a:tcPr marL="76339" marR="76339" marT="38170" marB="38170" anchor="ctr">
                    <a:lnL>
                      <a:noFill/>
                    </a:lnL>
                    <a:lnR>
                      <a:noFill/>
                    </a:lnR>
                    <a:lnT>
                      <a:noFill/>
                    </a:lnT>
                    <a:lnB>
                      <a:noFill/>
                    </a:lnB>
                    <a:noFill/>
                  </a:tcPr>
                </a:tc>
                <a:extLst>
                  <a:ext uri="{0D108BD9-81ED-4DB2-BD59-A6C34878D82A}">
                    <a16:rowId xmlns:a16="http://schemas.microsoft.com/office/drawing/2014/main" val="3013643258"/>
                  </a:ext>
                </a:extLst>
              </a:tr>
              <a:tr h="693098">
                <a:tc>
                  <a:txBody>
                    <a:bodyPr/>
                    <a:lstStyle/>
                    <a:p>
                      <a:pPr>
                        <a:buNone/>
                      </a:pPr>
                      <a:r>
                        <a:rPr lang="en-US" sz="1500"/>
                        <a:t>Depth-First Search</a:t>
                      </a:r>
                    </a:p>
                  </a:txBody>
                  <a:tcPr marL="76339" marR="76339" marT="38170" marB="38170" anchor="ctr">
                    <a:lnL>
                      <a:noFill/>
                    </a:lnL>
                    <a:lnR>
                      <a:noFill/>
                    </a:lnR>
                    <a:lnT>
                      <a:noFill/>
                    </a:lnT>
                    <a:lnB>
                      <a:noFill/>
                    </a:lnB>
                    <a:noFill/>
                  </a:tcPr>
                </a:tc>
                <a:tc>
                  <a:txBody>
                    <a:bodyPr/>
                    <a:lstStyle/>
                    <a:p>
                      <a:pPr>
                        <a:buNone/>
                      </a:pPr>
                      <a:r>
                        <a:rPr lang="en-US" sz="1500"/>
                        <a:t>Stack</a:t>
                      </a:r>
                    </a:p>
                  </a:txBody>
                  <a:tcPr marL="76339" marR="76339" marT="38170" marB="38170" anchor="ctr">
                    <a:lnL>
                      <a:noFill/>
                    </a:lnL>
                    <a:lnR>
                      <a:noFill/>
                    </a:lnR>
                    <a:lnT>
                      <a:noFill/>
                    </a:lnT>
                    <a:lnB>
                      <a:noFill/>
                    </a:lnB>
                    <a:noFill/>
                  </a:tcPr>
                </a:tc>
                <a:tc>
                  <a:txBody>
                    <a:bodyPr/>
                    <a:lstStyle/>
                    <a:p>
                      <a:pPr>
                        <a:buNone/>
                      </a:pPr>
                      <a:r>
                        <a:rPr lang="en-US" sz="1500"/>
                        <a:t>No</a:t>
                      </a:r>
                    </a:p>
                  </a:txBody>
                  <a:tcPr marL="76339" marR="76339" marT="38170" marB="38170" anchor="ctr">
                    <a:lnL>
                      <a:noFill/>
                    </a:lnL>
                    <a:lnR>
                      <a:noFill/>
                    </a:lnR>
                    <a:lnT>
                      <a:noFill/>
                    </a:lnT>
                    <a:lnB>
                      <a:noFill/>
                    </a:lnB>
                    <a:noFill/>
                  </a:tcPr>
                </a:tc>
                <a:tc>
                  <a:txBody>
                    <a:bodyPr/>
                    <a:lstStyle/>
                    <a:p>
                      <a:pPr>
                        <a:buNone/>
                      </a:pPr>
                      <a:r>
                        <a:rPr lang="en-US" sz="1500"/>
                        <a:t>No</a:t>
                      </a:r>
                    </a:p>
                  </a:txBody>
                  <a:tcPr marL="76339" marR="76339" marT="38170" marB="38170" anchor="ctr">
                    <a:lnL>
                      <a:noFill/>
                    </a:lnL>
                    <a:lnR>
                      <a:noFill/>
                    </a:lnR>
                    <a:lnT>
                      <a:noFill/>
                    </a:lnT>
                    <a:lnB>
                      <a:noFill/>
                    </a:lnB>
                    <a:noFill/>
                  </a:tcPr>
                </a:tc>
                <a:tc>
                  <a:txBody>
                    <a:bodyPr/>
                    <a:lstStyle/>
                    <a:p>
                      <a:pPr>
                        <a:buNone/>
                      </a:pPr>
                      <a:r>
                        <a:rPr lang="en-US" sz="1500"/>
                        <a:t>O(bᵈ)</a:t>
                      </a:r>
                    </a:p>
                  </a:txBody>
                  <a:tcPr marL="76339" marR="76339" marT="38170" marB="38170" anchor="ctr">
                    <a:lnL>
                      <a:noFill/>
                    </a:lnL>
                    <a:lnR>
                      <a:noFill/>
                    </a:lnR>
                    <a:lnT>
                      <a:noFill/>
                    </a:lnT>
                    <a:lnB>
                      <a:noFill/>
                    </a:lnB>
                    <a:noFill/>
                  </a:tcPr>
                </a:tc>
                <a:tc>
                  <a:txBody>
                    <a:bodyPr/>
                    <a:lstStyle/>
                    <a:p>
                      <a:pPr>
                        <a:buNone/>
                      </a:pPr>
                      <a:r>
                        <a:rPr lang="en-US" sz="1500"/>
                        <a:t>O(b·m)</a:t>
                      </a:r>
                    </a:p>
                  </a:txBody>
                  <a:tcPr marL="76339" marR="76339" marT="38170" marB="38170" anchor="ctr">
                    <a:lnL>
                      <a:noFill/>
                    </a:lnL>
                    <a:lnR>
                      <a:noFill/>
                    </a:lnR>
                    <a:lnT>
                      <a:noFill/>
                    </a:lnT>
                    <a:lnB>
                      <a:noFill/>
                    </a:lnB>
                    <a:noFill/>
                  </a:tcPr>
                </a:tc>
                <a:tc>
                  <a:txBody>
                    <a:bodyPr/>
                    <a:lstStyle/>
                    <a:p>
                      <a:pPr>
                        <a:buNone/>
                      </a:pPr>
                      <a:r>
                        <a:rPr lang="en-US" sz="1500"/>
                        <a:t>Deep search, low memory</a:t>
                      </a:r>
                    </a:p>
                  </a:txBody>
                  <a:tcPr marL="76339" marR="76339" marT="38170" marB="38170" anchor="ctr">
                    <a:lnL>
                      <a:noFill/>
                    </a:lnL>
                    <a:lnR>
                      <a:noFill/>
                    </a:lnR>
                    <a:lnT>
                      <a:noFill/>
                    </a:lnT>
                    <a:lnB>
                      <a:noFill/>
                    </a:lnB>
                    <a:noFill/>
                  </a:tcPr>
                </a:tc>
                <a:extLst>
                  <a:ext uri="{0D108BD9-81ED-4DB2-BD59-A6C34878D82A}">
                    <a16:rowId xmlns:a16="http://schemas.microsoft.com/office/drawing/2014/main" val="6016019"/>
                  </a:ext>
                </a:extLst>
              </a:tr>
              <a:tr h="990140">
                <a:tc>
                  <a:txBody>
                    <a:bodyPr/>
                    <a:lstStyle/>
                    <a:p>
                      <a:pPr>
                        <a:buNone/>
                      </a:pPr>
                      <a:r>
                        <a:rPr lang="en-US" sz="1500"/>
                        <a:t>Depth-Limited Search</a:t>
                      </a:r>
                    </a:p>
                  </a:txBody>
                  <a:tcPr marL="76339" marR="76339" marT="38170" marB="38170" anchor="ctr">
                    <a:lnL>
                      <a:noFill/>
                    </a:lnL>
                    <a:lnR>
                      <a:noFill/>
                    </a:lnR>
                    <a:lnT>
                      <a:noFill/>
                    </a:lnT>
                    <a:lnB>
                      <a:noFill/>
                    </a:lnB>
                    <a:noFill/>
                  </a:tcPr>
                </a:tc>
                <a:tc>
                  <a:txBody>
                    <a:bodyPr/>
                    <a:lstStyle/>
                    <a:p>
                      <a:pPr>
                        <a:buNone/>
                      </a:pPr>
                      <a:r>
                        <a:rPr lang="en-US" sz="1500"/>
                        <a:t>Stack (with limit)</a:t>
                      </a:r>
                    </a:p>
                  </a:txBody>
                  <a:tcPr marL="76339" marR="76339" marT="38170" marB="38170" anchor="ctr">
                    <a:lnL>
                      <a:noFill/>
                    </a:lnL>
                    <a:lnR>
                      <a:noFill/>
                    </a:lnR>
                    <a:lnT>
                      <a:noFill/>
                    </a:lnT>
                    <a:lnB>
                      <a:noFill/>
                    </a:lnB>
                    <a:noFill/>
                  </a:tcPr>
                </a:tc>
                <a:tc>
                  <a:txBody>
                    <a:bodyPr/>
                    <a:lstStyle/>
                    <a:p>
                      <a:pPr>
                        <a:buNone/>
                      </a:pPr>
                      <a:r>
                        <a:rPr lang="en-US" sz="1500"/>
                        <a:t>No</a:t>
                      </a:r>
                    </a:p>
                  </a:txBody>
                  <a:tcPr marL="76339" marR="76339" marT="38170" marB="38170" anchor="ctr">
                    <a:lnL>
                      <a:noFill/>
                    </a:lnL>
                    <a:lnR>
                      <a:noFill/>
                    </a:lnR>
                    <a:lnT>
                      <a:noFill/>
                    </a:lnT>
                    <a:lnB>
                      <a:noFill/>
                    </a:lnB>
                    <a:noFill/>
                  </a:tcPr>
                </a:tc>
                <a:tc>
                  <a:txBody>
                    <a:bodyPr/>
                    <a:lstStyle/>
                    <a:p>
                      <a:pPr>
                        <a:buNone/>
                      </a:pPr>
                      <a:r>
                        <a:rPr lang="en-US" sz="1500"/>
                        <a:t>No</a:t>
                      </a:r>
                    </a:p>
                  </a:txBody>
                  <a:tcPr marL="76339" marR="76339" marT="38170" marB="38170" anchor="ctr">
                    <a:lnL>
                      <a:noFill/>
                    </a:lnL>
                    <a:lnR>
                      <a:noFill/>
                    </a:lnR>
                    <a:lnT>
                      <a:noFill/>
                    </a:lnT>
                    <a:lnB>
                      <a:noFill/>
                    </a:lnB>
                    <a:noFill/>
                  </a:tcPr>
                </a:tc>
                <a:tc>
                  <a:txBody>
                    <a:bodyPr/>
                    <a:lstStyle/>
                    <a:p>
                      <a:pPr>
                        <a:buNone/>
                      </a:pPr>
                      <a:r>
                        <a:rPr lang="en-US" sz="1500"/>
                        <a:t>O(bᴸ)</a:t>
                      </a:r>
                    </a:p>
                  </a:txBody>
                  <a:tcPr marL="76339" marR="76339" marT="38170" marB="38170" anchor="ctr">
                    <a:lnL>
                      <a:noFill/>
                    </a:lnL>
                    <a:lnR>
                      <a:noFill/>
                    </a:lnR>
                    <a:lnT>
                      <a:noFill/>
                    </a:lnT>
                    <a:lnB>
                      <a:noFill/>
                    </a:lnB>
                    <a:noFill/>
                  </a:tcPr>
                </a:tc>
                <a:tc>
                  <a:txBody>
                    <a:bodyPr/>
                    <a:lstStyle/>
                    <a:p>
                      <a:pPr>
                        <a:buNone/>
                      </a:pPr>
                      <a:r>
                        <a:rPr lang="en-US" sz="1500"/>
                        <a:t>O(b·L)</a:t>
                      </a:r>
                    </a:p>
                  </a:txBody>
                  <a:tcPr marL="76339" marR="76339" marT="38170" marB="38170" anchor="ctr">
                    <a:lnL>
                      <a:noFill/>
                    </a:lnL>
                    <a:lnR>
                      <a:noFill/>
                    </a:lnR>
                    <a:lnT>
                      <a:noFill/>
                    </a:lnT>
                    <a:lnB>
                      <a:noFill/>
                    </a:lnB>
                    <a:noFill/>
                  </a:tcPr>
                </a:tc>
                <a:tc>
                  <a:txBody>
                    <a:bodyPr/>
                    <a:lstStyle/>
                    <a:p>
                      <a:pPr>
                        <a:buNone/>
                      </a:pPr>
                      <a:r>
                        <a:rPr lang="en-US" sz="1500"/>
                        <a:t>Prevents infinite descent</a:t>
                      </a:r>
                    </a:p>
                  </a:txBody>
                  <a:tcPr marL="76339" marR="76339" marT="38170" marB="38170" anchor="ctr">
                    <a:lnL>
                      <a:noFill/>
                    </a:lnL>
                    <a:lnR>
                      <a:noFill/>
                    </a:lnR>
                    <a:lnT>
                      <a:noFill/>
                    </a:lnT>
                    <a:lnB>
                      <a:noFill/>
                    </a:lnB>
                    <a:noFill/>
                  </a:tcPr>
                </a:tc>
                <a:extLst>
                  <a:ext uri="{0D108BD9-81ED-4DB2-BD59-A6C34878D82A}">
                    <a16:rowId xmlns:a16="http://schemas.microsoft.com/office/drawing/2014/main" val="2608001275"/>
                  </a:ext>
                </a:extLst>
              </a:tr>
              <a:tr h="1287181">
                <a:tc>
                  <a:txBody>
                    <a:bodyPr/>
                    <a:lstStyle/>
                    <a:p>
                      <a:pPr>
                        <a:buNone/>
                      </a:pPr>
                      <a:r>
                        <a:rPr lang="en-US" sz="1500"/>
                        <a:t>Iterative Deepening DFS</a:t>
                      </a:r>
                    </a:p>
                  </a:txBody>
                  <a:tcPr marL="76339" marR="76339" marT="38170" marB="38170" anchor="ctr">
                    <a:lnL>
                      <a:noFill/>
                    </a:lnL>
                    <a:lnR>
                      <a:noFill/>
                    </a:lnR>
                    <a:lnT>
                      <a:noFill/>
                    </a:lnT>
                    <a:lnB>
                      <a:noFill/>
                    </a:lnB>
                    <a:noFill/>
                  </a:tcPr>
                </a:tc>
                <a:tc>
                  <a:txBody>
                    <a:bodyPr/>
                    <a:lstStyle/>
                    <a:p>
                      <a:pPr>
                        <a:buNone/>
                      </a:pPr>
                      <a:r>
                        <a:rPr lang="en-US" sz="1500"/>
                        <a:t>Stack (repeated)</a:t>
                      </a:r>
                    </a:p>
                  </a:txBody>
                  <a:tcPr marL="76339" marR="76339" marT="38170" marB="38170" anchor="ctr">
                    <a:lnL>
                      <a:noFill/>
                    </a:lnL>
                    <a:lnR>
                      <a:noFill/>
                    </a:lnR>
                    <a:lnT>
                      <a:noFill/>
                    </a:lnT>
                    <a:lnB>
                      <a:noFill/>
                    </a:lnB>
                    <a:noFill/>
                  </a:tcPr>
                </a:tc>
                <a:tc>
                  <a:txBody>
                    <a:bodyPr/>
                    <a:lstStyle/>
                    <a:p>
                      <a:pPr>
                        <a:buNone/>
                      </a:pPr>
                      <a:r>
                        <a:rPr lang="en-US" sz="1500"/>
                        <a:t>Yes</a:t>
                      </a:r>
                    </a:p>
                  </a:txBody>
                  <a:tcPr marL="76339" marR="76339" marT="38170" marB="38170" anchor="ctr">
                    <a:lnL>
                      <a:noFill/>
                    </a:lnL>
                    <a:lnR>
                      <a:noFill/>
                    </a:lnR>
                    <a:lnT>
                      <a:noFill/>
                    </a:lnT>
                    <a:lnB>
                      <a:noFill/>
                    </a:lnB>
                    <a:noFill/>
                  </a:tcPr>
                </a:tc>
                <a:tc>
                  <a:txBody>
                    <a:bodyPr/>
                    <a:lstStyle/>
                    <a:p>
                      <a:pPr>
                        <a:buNone/>
                      </a:pPr>
                      <a:r>
                        <a:rPr lang="en-US" sz="1500"/>
                        <a:t>Yes (uniform cost)</a:t>
                      </a:r>
                    </a:p>
                  </a:txBody>
                  <a:tcPr marL="76339" marR="76339" marT="38170" marB="38170" anchor="ctr">
                    <a:lnL>
                      <a:noFill/>
                    </a:lnL>
                    <a:lnR>
                      <a:noFill/>
                    </a:lnR>
                    <a:lnT>
                      <a:noFill/>
                    </a:lnT>
                    <a:lnB>
                      <a:noFill/>
                    </a:lnB>
                    <a:noFill/>
                  </a:tcPr>
                </a:tc>
                <a:tc>
                  <a:txBody>
                    <a:bodyPr/>
                    <a:lstStyle/>
                    <a:p>
                      <a:pPr>
                        <a:buNone/>
                      </a:pPr>
                      <a:r>
                        <a:rPr lang="en-US" sz="1500"/>
                        <a:t>O(bᵈ)</a:t>
                      </a:r>
                    </a:p>
                  </a:txBody>
                  <a:tcPr marL="76339" marR="76339" marT="38170" marB="38170" anchor="ctr">
                    <a:lnL>
                      <a:noFill/>
                    </a:lnL>
                    <a:lnR>
                      <a:noFill/>
                    </a:lnR>
                    <a:lnT>
                      <a:noFill/>
                    </a:lnT>
                    <a:lnB>
                      <a:noFill/>
                    </a:lnB>
                    <a:noFill/>
                  </a:tcPr>
                </a:tc>
                <a:tc>
                  <a:txBody>
                    <a:bodyPr/>
                    <a:lstStyle/>
                    <a:p>
                      <a:pPr>
                        <a:buNone/>
                      </a:pPr>
                      <a:r>
                        <a:rPr lang="en-US" sz="1500"/>
                        <a:t>O(b·d)</a:t>
                      </a:r>
                    </a:p>
                  </a:txBody>
                  <a:tcPr marL="76339" marR="76339" marT="38170" marB="38170" anchor="ctr">
                    <a:lnL>
                      <a:noFill/>
                    </a:lnL>
                    <a:lnR>
                      <a:noFill/>
                    </a:lnR>
                    <a:lnT>
                      <a:noFill/>
                    </a:lnT>
                    <a:lnB>
                      <a:noFill/>
                    </a:lnB>
                    <a:noFill/>
                  </a:tcPr>
                </a:tc>
                <a:tc>
                  <a:txBody>
                    <a:bodyPr/>
                    <a:lstStyle/>
                    <a:p>
                      <a:pPr>
                        <a:buNone/>
                      </a:pPr>
                      <a:r>
                        <a:rPr lang="en-US" sz="1500"/>
                        <a:t>BFS-like completeness with DFS memory</a:t>
                      </a:r>
                    </a:p>
                  </a:txBody>
                  <a:tcPr marL="76339" marR="76339" marT="38170" marB="38170" anchor="ctr">
                    <a:lnL>
                      <a:noFill/>
                    </a:lnL>
                    <a:lnR>
                      <a:noFill/>
                    </a:lnR>
                    <a:lnT>
                      <a:noFill/>
                    </a:lnT>
                    <a:lnB>
                      <a:noFill/>
                    </a:lnB>
                    <a:noFill/>
                  </a:tcPr>
                </a:tc>
                <a:extLst>
                  <a:ext uri="{0D108BD9-81ED-4DB2-BD59-A6C34878D82A}">
                    <a16:rowId xmlns:a16="http://schemas.microsoft.com/office/drawing/2014/main" val="1280184473"/>
                  </a:ext>
                </a:extLst>
              </a:tr>
              <a:tr h="990140">
                <a:tc>
                  <a:txBody>
                    <a:bodyPr/>
                    <a:lstStyle/>
                    <a:p>
                      <a:pPr>
                        <a:buNone/>
                      </a:pPr>
                      <a:r>
                        <a:rPr lang="en-US" sz="1500"/>
                        <a:t>Uniform Cost Search</a:t>
                      </a:r>
                    </a:p>
                  </a:txBody>
                  <a:tcPr marL="76339" marR="76339" marT="38170" marB="38170" anchor="ctr">
                    <a:lnL>
                      <a:noFill/>
                    </a:lnL>
                    <a:lnR>
                      <a:noFill/>
                    </a:lnR>
                    <a:lnT>
                      <a:noFill/>
                    </a:lnT>
                    <a:lnB>
                      <a:noFill/>
                    </a:lnB>
                    <a:noFill/>
                  </a:tcPr>
                </a:tc>
                <a:tc>
                  <a:txBody>
                    <a:bodyPr/>
                    <a:lstStyle/>
                    <a:p>
                      <a:pPr>
                        <a:buNone/>
                      </a:pPr>
                      <a:r>
                        <a:rPr lang="en-US" sz="1500"/>
                        <a:t>Priority Queue</a:t>
                      </a:r>
                    </a:p>
                  </a:txBody>
                  <a:tcPr marL="76339" marR="76339" marT="38170" marB="38170" anchor="ctr">
                    <a:lnL>
                      <a:noFill/>
                    </a:lnL>
                    <a:lnR>
                      <a:noFill/>
                    </a:lnR>
                    <a:lnT>
                      <a:noFill/>
                    </a:lnT>
                    <a:lnB>
                      <a:noFill/>
                    </a:lnB>
                    <a:noFill/>
                  </a:tcPr>
                </a:tc>
                <a:tc>
                  <a:txBody>
                    <a:bodyPr/>
                    <a:lstStyle/>
                    <a:p>
                      <a:pPr>
                        <a:buNone/>
                      </a:pPr>
                      <a:r>
                        <a:rPr lang="en-US" sz="1500"/>
                        <a:t>Yes</a:t>
                      </a:r>
                    </a:p>
                  </a:txBody>
                  <a:tcPr marL="76339" marR="76339" marT="38170" marB="38170" anchor="ctr">
                    <a:lnL>
                      <a:noFill/>
                    </a:lnL>
                    <a:lnR>
                      <a:noFill/>
                    </a:lnR>
                    <a:lnT>
                      <a:noFill/>
                    </a:lnT>
                    <a:lnB>
                      <a:noFill/>
                    </a:lnB>
                    <a:noFill/>
                  </a:tcPr>
                </a:tc>
                <a:tc>
                  <a:txBody>
                    <a:bodyPr/>
                    <a:lstStyle/>
                    <a:p>
                      <a:pPr>
                        <a:buNone/>
                      </a:pPr>
                      <a:r>
                        <a:rPr lang="en-US" sz="1500"/>
                        <a:t>Yes</a:t>
                      </a:r>
                    </a:p>
                  </a:txBody>
                  <a:tcPr marL="76339" marR="76339" marT="38170" marB="38170" anchor="ctr">
                    <a:lnL>
                      <a:noFill/>
                    </a:lnL>
                    <a:lnR>
                      <a:noFill/>
                    </a:lnR>
                    <a:lnT>
                      <a:noFill/>
                    </a:lnT>
                    <a:lnB>
                      <a:noFill/>
                    </a:lnB>
                    <a:noFill/>
                  </a:tcPr>
                </a:tc>
                <a:tc>
                  <a:txBody>
                    <a:bodyPr/>
                    <a:lstStyle/>
                    <a:p>
                      <a:pPr>
                        <a:buNone/>
                      </a:pPr>
                      <a:r>
                        <a:rPr lang="pt-BR" sz="1500"/>
                        <a:t>O(b^(1+⌊C*/ε⌋))</a:t>
                      </a:r>
                    </a:p>
                  </a:txBody>
                  <a:tcPr marL="76339" marR="76339" marT="38170" marB="38170" anchor="ctr">
                    <a:lnL>
                      <a:noFill/>
                    </a:lnL>
                    <a:lnR>
                      <a:noFill/>
                    </a:lnR>
                    <a:lnT>
                      <a:noFill/>
                    </a:lnT>
                    <a:lnB>
                      <a:noFill/>
                    </a:lnB>
                    <a:noFill/>
                  </a:tcPr>
                </a:tc>
                <a:tc>
                  <a:txBody>
                    <a:bodyPr/>
                    <a:lstStyle/>
                    <a:p>
                      <a:pPr>
                        <a:buNone/>
                      </a:pPr>
                      <a:r>
                        <a:rPr lang="pt-BR" sz="1500"/>
                        <a:t>O(b^(1+⌊C*/ε⌋))</a:t>
                      </a:r>
                    </a:p>
                  </a:txBody>
                  <a:tcPr marL="76339" marR="76339" marT="38170" marB="38170" anchor="ctr">
                    <a:lnL>
                      <a:noFill/>
                    </a:lnL>
                    <a:lnR>
                      <a:noFill/>
                    </a:lnR>
                    <a:lnT>
                      <a:noFill/>
                    </a:lnT>
                    <a:lnB>
                      <a:noFill/>
                    </a:lnB>
                    <a:noFill/>
                  </a:tcPr>
                </a:tc>
                <a:tc>
                  <a:txBody>
                    <a:bodyPr/>
                    <a:lstStyle/>
                    <a:p>
                      <a:pPr>
                        <a:buNone/>
                      </a:pPr>
                      <a:r>
                        <a:rPr lang="en-US" sz="1500"/>
                        <a:t>Expands lowest-cost path first</a:t>
                      </a:r>
                    </a:p>
                  </a:txBody>
                  <a:tcPr marL="76339" marR="76339" marT="38170" marB="38170" anchor="ctr">
                    <a:lnL>
                      <a:noFill/>
                    </a:lnL>
                    <a:lnR>
                      <a:noFill/>
                    </a:lnR>
                    <a:lnT>
                      <a:noFill/>
                    </a:lnT>
                    <a:lnB>
                      <a:noFill/>
                    </a:lnB>
                    <a:noFill/>
                  </a:tcPr>
                </a:tc>
                <a:extLst>
                  <a:ext uri="{0D108BD9-81ED-4DB2-BD59-A6C34878D82A}">
                    <a16:rowId xmlns:a16="http://schemas.microsoft.com/office/drawing/2014/main" val="2791836385"/>
                  </a:ext>
                </a:extLst>
              </a:tr>
              <a:tr h="990140">
                <a:tc>
                  <a:txBody>
                    <a:bodyPr/>
                    <a:lstStyle/>
                    <a:p>
                      <a:pPr>
                        <a:buNone/>
                      </a:pPr>
                      <a:r>
                        <a:rPr lang="en-US" sz="1500"/>
                        <a:t>Bidirectional Search</a:t>
                      </a:r>
                    </a:p>
                  </a:txBody>
                  <a:tcPr marL="76339" marR="76339" marT="38170" marB="38170" anchor="ctr">
                    <a:lnL>
                      <a:noFill/>
                    </a:lnL>
                    <a:lnR>
                      <a:noFill/>
                    </a:lnR>
                    <a:lnT>
                      <a:noFill/>
                    </a:lnT>
                    <a:lnB>
                      <a:noFill/>
                    </a:lnB>
                    <a:noFill/>
                  </a:tcPr>
                </a:tc>
                <a:tc>
                  <a:txBody>
                    <a:bodyPr/>
                    <a:lstStyle/>
                    <a:p>
                      <a:pPr>
                        <a:buNone/>
                      </a:pPr>
                      <a:r>
                        <a:rPr lang="en-US" sz="1500"/>
                        <a:t>Two Queues</a:t>
                      </a:r>
                    </a:p>
                  </a:txBody>
                  <a:tcPr marL="76339" marR="76339" marT="38170" marB="38170" anchor="ctr">
                    <a:lnL>
                      <a:noFill/>
                    </a:lnL>
                    <a:lnR>
                      <a:noFill/>
                    </a:lnR>
                    <a:lnT>
                      <a:noFill/>
                    </a:lnT>
                    <a:lnB>
                      <a:noFill/>
                    </a:lnB>
                    <a:noFill/>
                  </a:tcPr>
                </a:tc>
                <a:tc>
                  <a:txBody>
                    <a:bodyPr/>
                    <a:lstStyle/>
                    <a:p>
                      <a:pPr>
                        <a:buNone/>
                      </a:pPr>
                      <a:r>
                        <a:rPr lang="en-US" sz="1500"/>
                        <a:t>Yes</a:t>
                      </a:r>
                    </a:p>
                  </a:txBody>
                  <a:tcPr marL="76339" marR="76339" marT="38170" marB="38170" anchor="ctr">
                    <a:lnL>
                      <a:noFill/>
                    </a:lnL>
                    <a:lnR>
                      <a:noFill/>
                    </a:lnR>
                    <a:lnT>
                      <a:noFill/>
                    </a:lnT>
                    <a:lnB>
                      <a:noFill/>
                    </a:lnB>
                    <a:noFill/>
                  </a:tcPr>
                </a:tc>
                <a:tc>
                  <a:txBody>
                    <a:bodyPr/>
                    <a:lstStyle/>
                    <a:p>
                      <a:pPr>
                        <a:buNone/>
                      </a:pPr>
                      <a:r>
                        <a:rPr lang="en-US" sz="1500"/>
                        <a:t>Yes</a:t>
                      </a:r>
                    </a:p>
                  </a:txBody>
                  <a:tcPr marL="76339" marR="76339" marT="38170" marB="38170" anchor="ctr">
                    <a:lnL>
                      <a:noFill/>
                    </a:lnL>
                    <a:lnR>
                      <a:noFill/>
                    </a:lnR>
                    <a:lnT>
                      <a:noFill/>
                    </a:lnT>
                    <a:lnB>
                      <a:noFill/>
                    </a:lnB>
                    <a:noFill/>
                  </a:tcPr>
                </a:tc>
                <a:tc>
                  <a:txBody>
                    <a:bodyPr/>
                    <a:lstStyle/>
                    <a:p>
                      <a:pPr>
                        <a:buNone/>
                      </a:pPr>
                      <a:r>
                        <a:rPr lang="en-US" sz="1500"/>
                        <a:t>O(b^(d/2))</a:t>
                      </a:r>
                    </a:p>
                  </a:txBody>
                  <a:tcPr marL="76339" marR="76339" marT="38170" marB="38170" anchor="ctr">
                    <a:lnL>
                      <a:noFill/>
                    </a:lnL>
                    <a:lnR>
                      <a:noFill/>
                    </a:lnR>
                    <a:lnT>
                      <a:noFill/>
                    </a:lnT>
                    <a:lnB>
                      <a:noFill/>
                    </a:lnB>
                    <a:noFill/>
                  </a:tcPr>
                </a:tc>
                <a:tc>
                  <a:txBody>
                    <a:bodyPr/>
                    <a:lstStyle/>
                    <a:p>
                      <a:pPr>
                        <a:buNone/>
                      </a:pPr>
                      <a:r>
                        <a:rPr lang="en-US" sz="1500"/>
                        <a:t>O(b^(d/2))</a:t>
                      </a:r>
                    </a:p>
                  </a:txBody>
                  <a:tcPr marL="76339" marR="76339" marT="38170" marB="38170" anchor="ctr">
                    <a:lnL>
                      <a:noFill/>
                    </a:lnL>
                    <a:lnR>
                      <a:noFill/>
                    </a:lnR>
                    <a:lnT>
                      <a:noFill/>
                    </a:lnT>
                    <a:lnB>
                      <a:noFill/>
                    </a:lnB>
                    <a:noFill/>
                  </a:tcPr>
                </a:tc>
                <a:tc>
                  <a:txBody>
                    <a:bodyPr/>
                    <a:lstStyle/>
                    <a:p>
                      <a:pPr>
                        <a:buNone/>
                      </a:pPr>
                      <a:r>
                        <a:rPr lang="en-US" sz="1500" dirty="0"/>
                        <a:t>Very efficient for known goals</a:t>
                      </a:r>
                    </a:p>
                  </a:txBody>
                  <a:tcPr marL="76339" marR="76339" marT="38170" marB="38170" anchor="ctr">
                    <a:lnL>
                      <a:noFill/>
                    </a:lnL>
                    <a:lnR>
                      <a:noFill/>
                    </a:lnR>
                    <a:lnT>
                      <a:noFill/>
                    </a:lnT>
                    <a:lnB>
                      <a:noFill/>
                    </a:lnB>
                    <a:noFill/>
                  </a:tcPr>
                </a:tc>
                <a:extLst>
                  <a:ext uri="{0D108BD9-81ED-4DB2-BD59-A6C34878D82A}">
                    <a16:rowId xmlns:a16="http://schemas.microsoft.com/office/drawing/2014/main" val="2646944845"/>
                  </a:ext>
                </a:extLst>
              </a:tr>
            </a:tbl>
          </a:graphicData>
        </a:graphic>
      </p:graphicFrame>
    </p:spTree>
    <p:extLst>
      <p:ext uri="{BB962C8B-B14F-4D97-AF65-F5344CB8AC3E}">
        <p14:creationId xmlns:p14="http://schemas.microsoft.com/office/powerpoint/2010/main" val="17485167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2F4AD6-3588-B2BA-6F7F-1F58D5BA3A4C}"/>
              </a:ext>
            </a:extLst>
          </p:cNvPr>
          <p:cNvSpPr>
            <a:spLocks noGrp="1"/>
          </p:cNvSpPr>
          <p:nvPr>
            <p:ph idx="1"/>
          </p:nvPr>
        </p:nvSpPr>
        <p:spPr>
          <a:xfrm>
            <a:off x="239843" y="224852"/>
            <a:ext cx="11737298" cy="6505732"/>
          </a:xfrm>
        </p:spPr>
        <p:txBody>
          <a:bodyPr/>
          <a:lstStyle/>
          <a:p>
            <a:pPr marL="0" indent="0" algn="ctr">
              <a:buNone/>
            </a:pPr>
            <a:r>
              <a:rPr lang="en-US" b="1" dirty="0"/>
              <a:t>Pseudocode for Bidirectional Search Algorithm</a:t>
            </a:r>
          </a:p>
          <a:p>
            <a:pPr marL="0" indent="0">
              <a:buNone/>
            </a:pPr>
            <a:endParaRPr lang="en-US" dirty="0"/>
          </a:p>
          <a:p>
            <a:pPr marL="0" indent="0">
              <a:buNone/>
            </a:pPr>
            <a:r>
              <a:rPr lang="en-US" dirty="0"/>
              <a:t>BIDIRECTIONAL(start, goal):</a:t>
            </a:r>
          </a:p>
          <a:p>
            <a:pPr marL="0" indent="0">
              <a:buNone/>
            </a:pPr>
            <a:r>
              <a:rPr lang="en-US" dirty="0"/>
              <a:t>    </a:t>
            </a:r>
            <a:r>
              <a:rPr lang="en-US" dirty="0" err="1"/>
              <a:t>frontier_fwd</a:t>
            </a:r>
            <a:r>
              <a:rPr lang="en-US" dirty="0"/>
              <a:t> = {start}</a:t>
            </a:r>
          </a:p>
          <a:p>
            <a:pPr marL="0" indent="0">
              <a:buNone/>
            </a:pPr>
            <a:r>
              <a:rPr lang="en-US" dirty="0"/>
              <a:t>    </a:t>
            </a:r>
            <a:r>
              <a:rPr lang="en-US" dirty="0" err="1"/>
              <a:t>frontier_bwd</a:t>
            </a:r>
            <a:r>
              <a:rPr lang="en-US" dirty="0"/>
              <a:t> = {goal}</a:t>
            </a:r>
          </a:p>
          <a:p>
            <a:pPr marL="0" indent="0">
              <a:buNone/>
            </a:pPr>
            <a:r>
              <a:rPr lang="en-US" dirty="0"/>
              <a:t>    while both not empty:</a:t>
            </a:r>
          </a:p>
          <a:p>
            <a:pPr marL="0" indent="0">
              <a:buNone/>
            </a:pPr>
            <a:r>
              <a:rPr lang="en-US" dirty="0"/>
              <a:t>        expand one step forward</a:t>
            </a:r>
          </a:p>
          <a:p>
            <a:pPr marL="0" indent="0">
              <a:buNone/>
            </a:pPr>
            <a:r>
              <a:rPr lang="en-US" dirty="0"/>
              <a:t>        expand one step backward</a:t>
            </a:r>
          </a:p>
          <a:p>
            <a:pPr marL="0" indent="0">
              <a:buNone/>
            </a:pPr>
            <a:r>
              <a:rPr lang="en-US" dirty="0"/>
              <a:t>        if intersection(</a:t>
            </a:r>
            <a:r>
              <a:rPr lang="en-US" dirty="0" err="1"/>
              <a:t>frontier_fwd</a:t>
            </a:r>
            <a:r>
              <a:rPr lang="en-US" dirty="0"/>
              <a:t>, </a:t>
            </a:r>
            <a:r>
              <a:rPr lang="en-US" dirty="0" err="1"/>
              <a:t>frontier_bwd</a:t>
            </a:r>
            <a:r>
              <a:rPr lang="en-US" dirty="0"/>
              <a:t>):</a:t>
            </a:r>
          </a:p>
          <a:p>
            <a:pPr marL="0" indent="0">
              <a:buNone/>
            </a:pPr>
            <a:r>
              <a:rPr lang="en-US" dirty="0"/>
              <a:t>            return path</a:t>
            </a:r>
          </a:p>
        </p:txBody>
      </p:sp>
    </p:spTree>
    <p:extLst>
      <p:ext uri="{BB962C8B-B14F-4D97-AF65-F5344CB8AC3E}">
        <p14:creationId xmlns:p14="http://schemas.microsoft.com/office/powerpoint/2010/main" val="14490866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9BBE3B-223D-04A5-7240-314026F4EEF2}"/>
              </a:ext>
            </a:extLst>
          </p:cNvPr>
          <p:cNvSpPr>
            <a:spLocks noGrp="1"/>
          </p:cNvSpPr>
          <p:nvPr>
            <p:ph idx="1"/>
          </p:nvPr>
        </p:nvSpPr>
        <p:spPr>
          <a:xfrm>
            <a:off x="149901" y="164892"/>
            <a:ext cx="11842229" cy="6550701"/>
          </a:xfrm>
        </p:spPr>
        <p:txBody>
          <a:bodyPr>
            <a:normAutofit fontScale="92500"/>
          </a:bodyPr>
          <a:lstStyle/>
          <a:p>
            <a:pPr marL="0" indent="0">
              <a:buNone/>
            </a:pPr>
            <a:r>
              <a:rPr lang="en-US" dirty="0"/>
              <a:t>Consider the following graph</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Suppose we want to find if there exists a path from vertex 0 to vertex 14.</a:t>
            </a:r>
          </a:p>
          <a:p>
            <a:pPr marL="0" indent="0">
              <a:buNone/>
            </a:pPr>
            <a:r>
              <a:rPr lang="en-US" dirty="0"/>
              <a:t> Here we can execute two searches, one from vertex 0 and other from vertex 14. </a:t>
            </a:r>
          </a:p>
          <a:p>
            <a:pPr marL="0" indent="0">
              <a:buNone/>
            </a:pPr>
            <a:r>
              <a:rPr lang="en-US" dirty="0"/>
              <a:t>When both forward and backward search meet at vertex 7, we know that we have found a path from node 0 to 14 and search can be terminated now. </a:t>
            </a:r>
          </a:p>
          <a:p>
            <a:pPr marL="0" indent="0">
              <a:buNone/>
            </a:pPr>
            <a:r>
              <a:rPr lang="en-US" dirty="0"/>
              <a:t>We can clearly see that we have successfully avoided unnecessary exploration. </a:t>
            </a:r>
          </a:p>
          <a:p>
            <a:pPr marL="0" indent="0">
              <a:buNone/>
            </a:pPr>
            <a:endParaRPr lang="en-US" dirty="0"/>
          </a:p>
        </p:txBody>
      </p:sp>
      <p:pic>
        <p:nvPicPr>
          <p:cNvPr id="4" name="Picture 3" descr="A line of circles and dots&#10;&#10;AI-generated content may be incorrect.">
            <a:extLst>
              <a:ext uri="{FF2B5EF4-FFF2-40B4-BE49-F238E27FC236}">
                <a16:creationId xmlns:a16="http://schemas.microsoft.com/office/drawing/2014/main" id="{1014CDD8-3BD2-03BC-E24C-4F5E2DD75B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3338" y="719529"/>
            <a:ext cx="5725324" cy="2368445"/>
          </a:xfrm>
          <a:prstGeom prst="rect">
            <a:avLst/>
          </a:prstGeom>
        </p:spPr>
      </p:pic>
    </p:spTree>
    <p:extLst>
      <p:ext uri="{BB962C8B-B14F-4D97-AF65-F5344CB8AC3E}">
        <p14:creationId xmlns:p14="http://schemas.microsoft.com/office/powerpoint/2010/main" val="41192566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92E376-4BD1-AC9E-3E91-7E6C9F998A79}"/>
              </a:ext>
            </a:extLst>
          </p:cNvPr>
          <p:cNvSpPr>
            <a:spLocks noGrp="1"/>
          </p:cNvSpPr>
          <p:nvPr>
            <p:ph idx="1"/>
          </p:nvPr>
        </p:nvSpPr>
        <p:spPr>
          <a:xfrm>
            <a:off x="134911" y="164892"/>
            <a:ext cx="11842230" cy="6490741"/>
          </a:xfrm>
        </p:spPr>
        <p:txBody>
          <a:bodyPr/>
          <a:lstStyle/>
          <a:p>
            <a:pPr marL="0" indent="0" fontAlgn="base">
              <a:buNone/>
            </a:pPr>
            <a:r>
              <a:rPr lang="en-US" b="1" dirty="0"/>
              <a:t>Why bidirectional approach?</a:t>
            </a:r>
            <a:endParaRPr lang="en-US" dirty="0"/>
          </a:p>
          <a:p>
            <a:pPr marL="0" indent="0" fontAlgn="base">
              <a:buNone/>
            </a:pPr>
            <a:r>
              <a:rPr lang="en-US" dirty="0"/>
              <a:t>Because in many cases it is faster, it dramatically reduce the amount of required exploration. </a:t>
            </a:r>
            <a:br>
              <a:rPr lang="en-US" dirty="0"/>
            </a:br>
            <a:r>
              <a:rPr lang="en-US" dirty="0"/>
              <a:t>Suppose if branching factor of tree is </a:t>
            </a:r>
            <a:r>
              <a:rPr lang="en-US" b="1" dirty="0"/>
              <a:t>b</a:t>
            </a:r>
            <a:r>
              <a:rPr lang="en-US" dirty="0"/>
              <a:t> and distance of goal vertex from source is </a:t>
            </a:r>
            <a:r>
              <a:rPr lang="en-US" b="1" dirty="0"/>
              <a:t>d</a:t>
            </a:r>
            <a:r>
              <a:rPr lang="en-US" dirty="0"/>
              <a:t>, then the normal BFS/DFS searching complexity would be </a:t>
            </a:r>
            <a:r>
              <a:rPr lang="en-US" i="1" dirty="0"/>
              <a:t>O(b</a:t>
            </a:r>
            <a:r>
              <a:rPr lang="en-US" i="1" baseline="30000" dirty="0"/>
              <a:t>d</a:t>
            </a:r>
            <a:r>
              <a:rPr lang="en-US" i="1" dirty="0"/>
              <a:t>).</a:t>
            </a:r>
          </a:p>
          <a:p>
            <a:pPr marL="0" indent="0" fontAlgn="base">
              <a:buNone/>
            </a:pPr>
            <a:r>
              <a:rPr lang="en-US" i="1" dirty="0"/>
              <a:t> </a:t>
            </a:r>
            <a:r>
              <a:rPr lang="en-US" dirty="0"/>
              <a:t>On the other hand, if we execute two search operation then the complexity would be </a:t>
            </a:r>
            <a:r>
              <a:rPr lang="en-US" i="1" dirty="0"/>
              <a:t>O(b</a:t>
            </a:r>
            <a:r>
              <a:rPr lang="en-US" i="1" baseline="30000" dirty="0"/>
              <a:t>d/2</a:t>
            </a:r>
            <a:r>
              <a:rPr lang="en-US" i="1" dirty="0"/>
              <a:t>) </a:t>
            </a:r>
            <a:r>
              <a:rPr lang="en-US" dirty="0"/>
              <a:t>for each search and total complexity would be </a:t>
            </a:r>
            <a:r>
              <a:rPr lang="en-US" i="1" dirty="0"/>
              <a:t>O(b</a:t>
            </a:r>
            <a:r>
              <a:rPr lang="en-US" i="1" baseline="30000" dirty="0"/>
              <a:t>d/2</a:t>
            </a:r>
            <a:r>
              <a:rPr lang="en-US" i="1" dirty="0"/>
              <a:t> +b</a:t>
            </a:r>
            <a:r>
              <a:rPr lang="en-US" i="1" baseline="30000" dirty="0"/>
              <a:t>d/2</a:t>
            </a:r>
            <a:r>
              <a:rPr lang="en-US" i="1" dirty="0"/>
              <a:t>)</a:t>
            </a:r>
            <a:r>
              <a:rPr lang="en-US" dirty="0"/>
              <a:t> which is far less than </a:t>
            </a:r>
            <a:r>
              <a:rPr lang="en-US" i="1" dirty="0"/>
              <a:t>O(b</a:t>
            </a:r>
            <a:r>
              <a:rPr lang="en-US" i="1" baseline="30000" dirty="0"/>
              <a:t>d</a:t>
            </a:r>
            <a:r>
              <a:rPr lang="en-US" i="1" dirty="0"/>
              <a:t>)</a:t>
            </a:r>
            <a:r>
              <a:rPr lang="en-US" dirty="0"/>
              <a:t>.</a:t>
            </a:r>
          </a:p>
          <a:p>
            <a:pPr marL="0" indent="0" fontAlgn="base">
              <a:buNone/>
            </a:pPr>
            <a:r>
              <a:rPr lang="en-US" b="1" dirty="0"/>
              <a:t>When to use bidirectional approach?</a:t>
            </a:r>
            <a:endParaRPr lang="en-US" dirty="0"/>
          </a:p>
          <a:p>
            <a:pPr fontAlgn="base"/>
            <a:r>
              <a:rPr lang="en-US" dirty="0"/>
              <a:t>We can consider bidirectional approach when- </a:t>
            </a:r>
          </a:p>
          <a:p>
            <a:pPr fontAlgn="base"/>
            <a:r>
              <a:rPr lang="en-US" dirty="0"/>
              <a:t>Both initial and goal states are unique and completely defined.</a:t>
            </a:r>
          </a:p>
          <a:p>
            <a:pPr fontAlgn="base"/>
            <a:r>
              <a:rPr lang="en-US" dirty="0"/>
              <a:t>The branching factor is exactly the same in both directions.</a:t>
            </a:r>
          </a:p>
          <a:p>
            <a:pPr marL="0" indent="0">
              <a:buNone/>
            </a:pPr>
            <a:endParaRPr lang="en-US" dirty="0"/>
          </a:p>
        </p:txBody>
      </p:sp>
    </p:spTree>
    <p:extLst>
      <p:ext uri="{BB962C8B-B14F-4D97-AF65-F5344CB8AC3E}">
        <p14:creationId xmlns:p14="http://schemas.microsoft.com/office/powerpoint/2010/main" val="3799133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5A173E-7A69-CBC6-299E-2428261B24CE}"/>
              </a:ext>
            </a:extLst>
          </p:cNvPr>
          <p:cNvSpPr>
            <a:spLocks noGrp="1"/>
          </p:cNvSpPr>
          <p:nvPr>
            <p:ph idx="1"/>
          </p:nvPr>
        </p:nvSpPr>
        <p:spPr>
          <a:xfrm>
            <a:off x="194872" y="209862"/>
            <a:ext cx="11722308" cy="6385810"/>
          </a:xfrm>
        </p:spPr>
        <p:txBody>
          <a:bodyPr/>
          <a:lstStyle/>
          <a:p>
            <a:pPr marL="0" indent="0" fontAlgn="base">
              <a:buNone/>
            </a:pPr>
            <a:r>
              <a:rPr lang="en-US" b="1" dirty="0"/>
              <a:t>Performance measures</a:t>
            </a:r>
            <a:endParaRPr lang="en-US" dirty="0"/>
          </a:p>
          <a:p>
            <a:pPr fontAlgn="base"/>
            <a:r>
              <a:rPr lang="en-US" dirty="0"/>
              <a:t>Completeness : Bidirectional search is complete if BFS is used in both searches.</a:t>
            </a:r>
          </a:p>
          <a:p>
            <a:pPr fontAlgn="base"/>
            <a:r>
              <a:rPr lang="en-US" dirty="0"/>
              <a:t>Optimality : It is optimal if BFS is used for search and paths have uniform cost.</a:t>
            </a:r>
          </a:p>
          <a:p>
            <a:pPr fontAlgn="base"/>
            <a:r>
              <a:rPr lang="en-US" dirty="0"/>
              <a:t>Time and Space Complexity : Time and space complexity is </a:t>
            </a:r>
            <a:r>
              <a:rPr lang="en-US" i="1" dirty="0"/>
              <a:t>O(b</a:t>
            </a:r>
            <a:r>
              <a:rPr lang="en-US" i="1" baseline="30000" dirty="0"/>
              <a:t>d/2</a:t>
            </a:r>
            <a:r>
              <a:rPr lang="en-US" i="1" dirty="0"/>
              <a:t>).</a:t>
            </a:r>
            <a:endParaRPr lang="en-US" dirty="0"/>
          </a:p>
          <a:p>
            <a:pPr marL="0" indent="0">
              <a:buNone/>
            </a:pPr>
            <a:endParaRPr lang="en-US" dirty="0"/>
          </a:p>
        </p:txBody>
      </p:sp>
    </p:spTree>
    <p:extLst>
      <p:ext uri="{BB962C8B-B14F-4D97-AF65-F5344CB8AC3E}">
        <p14:creationId xmlns:p14="http://schemas.microsoft.com/office/powerpoint/2010/main" val="635353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9D4AEA-ED38-AC60-C8B0-010A4371B78A}"/>
              </a:ext>
            </a:extLst>
          </p:cNvPr>
          <p:cNvSpPr>
            <a:spLocks noGrp="1"/>
          </p:cNvSpPr>
          <p:nvPr>
            <p:ph idx="1"/>
          </p:nvPr>
        </p:nvSpPr>
        <p:spPr>
          <a:xfrm>
            <a:off x="104931" y="224852"/>
            <a:ext cx="11842230" cy="6430781"/>
          </a:xfrm>
        </p:spPr>
        <p:txBody>
          <a:bodyPr>
            <a:normAutofit fontScale="92500" lnSpcReduction="20000"/>
          </a:bodyPr>
          <a:lstStyle/>
          <a:p>
            <a:pPr marL="0" indent="0" algn="ctr">
              <a:buNone/>
            </a:pPr>
            <a:r>
              <a:rPr lang="en-US" b="1" dirty="0"/>
              <a:t>Assignment 2</a:t>
            </a:r>
          </a:p>
          <a:p>
            <a:pPr marL="0" indent="0">
              <a:buNone/>
            </a:pPr>
            <a:r>
              <a:rPr lang="en-US" dirty="0"/>
              <a:t>Using </a:t>
            </a:r>
            <a:r>
              <a:rPr lang="en-US" i="1" dirty="0"/>
              <a:t>case studies or theoretical scenarios</a:t>
            </a:r>
            <a:r>
              <a:rPr lang="en-US" dirty="0"/>
              <a:t>, write structured essays (max 8 pages total) addressing:</a:t>
            </a:r>
          </a:p>
          <a:p>
            <a:pPr lvl="0"/>
            <a:r>
              <a:rPr lang="en-US" b="1" dirty="0"/>
              <a:t>Supervised vs Unsupervised Learning </a:t>
            </a:r>
            <a:r>
              <a:rPr lang="en-US" dirty="0"/>
              <a:t>— Analyze their strengths and weaknesses; illustrate with suitable examples.</a:t>
            </a:r>
          </a:p>
          <a:p>
            <a:pPr lvl="0"/>
            <a:r>
              <a:rPr lang="en-US" b="1" dirty="0"/>
              <a:t>Deep Learning </a:t>
            </a:r>
            <a:r>
              <a:rPr lang="en-US" dirty="0"/>
              <a:t>— Explain its theoretical underpinnings and why it marks a shift in AI.</a:t>
            </a:r>
          </a:p>
          <a:p>
            <a:pPr lvl="0"/>
            <a:r>
              <a:rPr lang="en-US" b="1" dirty="0"/>
              <a:t>Reinforcement Learning </a:t>
            </a:r>
            <a:r>
              <a:rPr lang="en-US" dirty="0"/>
              <a:t>— Outline its learning cycle (agent, environment, reward) with a relatable analogy.</a:t>
            </a:r>
          </a:p>
          <a:p>
            <a:pPr lvl="0"/>
            <a:r>
              <a:rPr lang="en-US" b="1" dirty="0"/>
              <a:t>Ontology </a:t>
            </a:r>
            <a:r>
              <a:rPr lang="en-US" dirty="0"/>
              <a:t>— Define and explain its importance in knowledge structuring; give a relevant example.</a:t>
            </a:r>
          </a:p>
          <a:p>
            <a:pPr lvl="0"/>
            <a:r>
              <a:rPr lang="en-US" b="1" dirty="0"/>
              <a:t>Decision Trees </a:t>
            </a:r>
            <a:r>
              <a:rPr lang="en-US" dirty="0"/>
              <a:t>— Critically evaluate their role as interpretable AI models compared with black-box models.</a:t>
            </a:r>
          </a:p>
          <a:p>
            <a:pPr lvl="0"/>
            <a:r>
              <a:rPr lang="en-US" b="1" dirty="0"/>
              <a:t>Bias-Variance Tradeoff &amp; Overfitting vs Underfitting </a:t>
            </a:r>
            <a:r>
              <a:rPr lang="en-US" dirty="0"/>
              <a:t>— Discuss these as central challenges in ML, explaining their impact on model generalization and practical deployment.</a:t>
            </a:r>
          </a:p>
          <a:p>
            <a:r>
              <a:rPr lang="en-US" b="1" dirty="0"/>
              <a:t>No Free Lunch Theorem </a:t>
            </a:r>
            <a:r>
              <a:rPr lang="en-US" dirty="0"/>
              <a:t>— Briefly analyze why no single model performs best across all problems, and link this to model selection in practice.</a:t>
            </a:r>
          </a:p>
        </p:txBody>
      </p:sp>
    </p:spTree>
    <p:extLst>
      <p:ext uri="{BB962C8B-B14F-4D97-AF65-F5344CB8AC3E}">
        <p14:creationId xmlns:p14="http://schemas.microsoft.com/office/powerpoint/2010/main" val="30096346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94E3A-1C5C-4D62-85AE-76A37DFE0D7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CA6AA1-767A-BE77-0418-16AE4B0A7AD4}"/>
              </a:ext>
            </a:extLst>
          </p:cNvPr>
          <p:cNvSpPr>
            <a:spLocks noGrp="1"/>
          </p:cNvSpPr>
          <p:nvPr>
            <p:ph idx="1"/>
          </p:nvPr>
        </p:nvSpPr>
        <p:spPr>
          <a:xfrm>
            <a:off x="104931" y="224852"/>
            <a:ext cx="11842230" cy="6430781"/>
          </a:xfrm>
        </p:spPr>
        <p:txBody>
          <a:bodyPr/>
          <a:lstStyle/>
          <a:p>
            <a:pPr marL="0" indent="0">
              <a:buNone/>
            </a:pPr>
            <a:r>
              <a:rPr lang="en-US" b="1" dirty="0"/>
              <a:t>Rules of Engagement for Assignment 2</a:t>
            </a:r>
          </a:p>
          <a:p>
            <a:pPr marL="0" indent="0">
              <a:buNone/>
            </a:pPr>
            <a:r>
              <a:rPr lang="en-US" dirty="0"/>
              <a:t>To be hand-written on A4-size papers of not more than the specified number of pages (max 8) and properly stapled</a:t>
            </a:r>
          </a:p>
          <a:p>
            <a:pPr lvl="0"/>
            <a:r>
              <a:rPr lang="en-US" dirty="0"/>
              <a:t>All assignments must include:</a:t>
            </a:r>
          </a:p>
          <a:p>
            <a:pPr lvl="1"/>
            <a:r>
              <a:rPr lang="en-US" dirty="0"/>
              <a:t>Class Number/  (Group)</a:t>
            </a:r>
          </a:p>
          <a:p>
            <a:pPr lvl="1"/>
            <a:r>
              <a:rPr lang="en-US" dirty="0"/>
              <a:t>Date</a:t>
            </a:r>
          </a:p>
          <a:p>
            <a:pPr lvl="1"/>
            <a:r>
              <a:rPr lang="en-US" dirty="0"/>
              <a:t>Matric Number</a:t>
            </a:r>
          </a:p>
          <a:p>
            <a:pPr lvl="1"/>
            <a:r>
              <a:rPr lang="en-US" dirty="0"/>
              <a:t>Program of Study.</a:t>
            </a:r>
          </a:p>
          <a:p>
            <a:r>
              <a:rPr lang="en-US" dirty="0"/>
              <a:t>Exclude names. Non-compliance = –2 marks.</a:t>
            </a:r>
          </a:p>
        </p:txBody>
      </p:sp>
    </p:spTree>
    <p:extLst>
      <p:ext uri="{BB962C8B-B14F-4D97-AF65-F5344CB8AC3E}">
        <p14:creationId xmlns:p14="http://schemas.microsoft.com/office/powerpoint/2010/main" val="29799639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0BA839-E82D-56E0-8A74-5D41D76298D7}"/>
              </a:ext>
            </a:extLst>
          </p:cNvPr>
          <p:cNvSpPr>
            <a:spLocks noGrp="1"/>
          </p:cNvSpPr>
          <p:nvPr>
            <p:ph idx="1"/>
          </p:nvPr>
        </p:nvSpPr>
        <p:spPr>
          <a:xfrm>
            <a:off x="179881" y="239843"/>
            <a:ext cx="11842229" cy="6400800"/>
          </a:xfrm>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We will look at Informed Search after your mid semester examination next week</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6686973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963713-B284-64FA-72A1-AAF578803918}"/>
              </a:ext>
            </a:extLst>
          </p:cNvPr>
          <p:cNvSpPr>
            <a:spLocks noGrp="1"/>
          </p:cNvSpPr>
          <p:nvPr>
            <p:ph idx="1"/>
          </p:nvPr>
        </p:nvSpPr>
        <p:spPr>
          <a:xfrm>
            <a:off x="224851" y="164892"/>
            <a:ext cx="11767279" cy="6535711"/>
          </a:xfrm>
        </p:spPr>
        <p:txBody>
          <a:bodyPr/>
          <a:lstStyle/>
          <a:p>
            <a:pPr marL="0" indent="0" algn="ctr">
              <a:buNone/>
            </a:pPr>
            <a:r>
              <a:rPr lang="en-US" b="1" dirty="0"/>
              <a:t>Lab Practical for the week (21/10/2025)</a:t>
            </a:r>
          </a:p>
          <a:p>
            <a:pPr marL="0" indent="0">
              <a:buNone/>
            </a:pPr>
            <a:r>
              <a:rPr lang="en-US" dirty="0"/>
              <a:t>Implementation of the 8-puzzle game</a:t>
            </a:r>
          </a:p>
          <a:p>
            <a:pPr marL="0" indent="0">
              <a:buNone/>
            </a:pPr>
            <a:r>
              <a:rPr lang="en-US" dirty="0"/>
              <a:t>Solve using BFS, DFS, DLS, Iterative Deepening (IDS), and Bidirectional Search</a:t>
            </a:r>
          </a:p>
          <a:p>
            <a:pPr marL="0" indent="0">
              <a:buNone/>
            </a:pPr>
            <a:r>
              <a:rPr lang="en-US" dirty="0"/>
              <a:t>Compares execution time, number of nodes expanded, solution length, and optimality/completeness</a:t>
            </a:r>
          </a:p>
        </p:txBody>
      </p:sp>
    </p:spTree>
    <p:extLst>
      <p:ext uri="{BB962C8B-B14F-4D97-AF65-F5344CB8AC3E}">
        <p14:creationId xmlns:p14="http://schemas.microsoft.com/office/powerpoint/2010/main" val="34074124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659FA79-DB4D-1506-A16D-0EC9990607B8}"/>
                  </a:ext>
                </a:extLst>
              </p:cNvPr>
              <p:cNvSpPr>
                <a:spLocks noGrp="1"/>
              </p:cNvSpPr>
              <p:nvPr>
                <p:ph idx="1"/>
              </p:nvPr>
            </p:nvSpPr>
            <p:spPr>
              <a:xfrm>
                <a:off x="224851" y="224852"/>
                <a:ext cx="11797259" cy="6445771"/>
              </a:xfrm>
            </p:spPr>
            <p:txBody>
              <a:bodyPr>
                <a:normAutofit fontScale="92500" lnSpcReduction="20000"/>
              </a:bodyPr>
              <a:lstStyle/>
              <a:p>
                <a:pPr marL="0" indent="0">
                  <a:buNone/>
                </a:pPr>
                <a:r>
                  <a:rPr lang="en-US" b="1" dirty="0"/>
                  <a:t>Problem Formulation</a:t>
                </a:r>
              </a:p>
              <a:p>
                <a:pPr marL="0" indent="0">
                  <a:buNone/>
                </a:pPr>
                <a:r>
                  <a:rPr lang="en-US" dirty="0"/>
                  <a:t>The 8-puzzle problem consists of a 3×3 grid containing eight numbered tiles and one empty space (blank).</a:t>
                </a:r>
                <a:br>
                  <a:rPr lang="en-US" dirty="0"/>
                </a:br>
                <a:r>
                  <a:rPr lang="en-US" dirty="0"/>
                  <a:t>The objective is to move the tiles one step at a time (up, down, left, right) by sliding them into the empty space until the puzzle reaches a specific goal configuration.</a:t>
                </a:r>
              </a:p>
              <a:p>
                <a:pPr marL="0" indent="0">
                  <a:buNone/>
                </a:pPr>
                <a:r>
                  <a:rPr lang="en-US" dirty="0"/>
                  <a:t>Each move generates a new state in the state space, and search algorithms are used to find a path from the starting configuration to the goal configuration.</a:t>
                </a:r>
              </a:p>
              <a:p>
                <a:pPr marL="0" indent="0">
                  <a:buNone/>
                </a:pPr>
                <a:r>
                  <a:rPr lang="en-US" b="1" dirty="0"/>
                  <a:t>Formal Problem Definition</a:t>
                </a:r>
              </a:p>
              <a:p>
                <a:pPr marL="0" indent="0">
                  <a:buNone/>
                </a:pPr>
                <a:r>
                  <a:rPr lang="en-US" dirty="0"/>
                  <a:t>A search problem can be defined by the 5-tuple:</a:t>
                </a:r>
              </a:p>
              <a:p>
                <a:pPr marL="0" indent="0">
                  <a:buNone/>
                </a:pPr>
                <a14:m>
                  <m:oMathPara xmlns:m="http://schemas.openxmlformats.org/officeDocument/2006/math">
                    <m:oMathParaPr>
                      <m:jc m:val="centerGroup"/>
                    </m:oMathParaPr>
                    <m:oMath xmlns:m="http://schemas.openxmlformats.org/officeDocument/2006/math">
                      <m:r>
                        <a:rPr lang="en-US" i="1"/>
                        <m:t>𝑃</m:t>
                      </m:r>
                      <m:r>
                        <a:rPr lang="en-US"/>
                        <m:t>=</m:t>
                      </m:r>
                      <m:d>
                        <m:dPr>
                          <m:sepChr m:val=","/>
                          <m:ctrlPr>
                            <a:rPr lang="ar-AE" i="1"/>
                          </m:ctrlPr>
                        </m:dPr>
                        <m:e>
                          <m:r>
                            <a:rPr lang="ar-AE" i="1"/>
                            <m:t>𝑆</m:t>
                          </m:r>
                        </m:e>
                        <m:e>
                          <m:r>
                            <a:rPr lang="ar-AE" i="1"/>
                            <m:t>𝐴</m:t>
                          </m:r>
                        </m:e>
                        <m:e>
                          <m:r>
                            <a:rPr lang="ar-AE" i="1"/>
                            <m:t>𝑇</m:t>
                          </m:r>
                        </m:e>
                        <m:e>
                          <m:sSub>
                            <m:sSubPr>
                              <m:ctrlPr>
                                <a:rPr lang="ar-AE" i="1"/>
                              </m:ctrlPr>
                            </m:sSubPr>
                            <m:e>
                              <m:r>
                                <a:rPr lang="ar-AE" i="1"/>
                                <m:t>𝑠</m:t>
                              </m:r>
                            </m:e>
                            <m:sub>
                              <m:r>
                                <a:rPr lang="ar-AE"/>
                                <m:t>0</m:t>
                              </m:r>
                            </m:sub>
                          </m:sSub>
                        </m:e>
                        <m:e>
                          <m:r>
                            <a:rPr lang="ar-AE" i="1"/>
                            <m:t>𝐺</m:t>
                          </m:r>
                        </m:e>
                      </m:d>
                    </m:oMath>
                  </m:oMathPara>
                </a14:m>
                <a:endParaRPr lang="ar-AE" dirty="0"/>
              </a:p>
              <a:p>
                <a:pPr marL="0" indent="0">
                  <a:buNone/>
                </a:pPr>
                <a:r>
                  <a:rPr lang="en-US" dirty="0"/>
                  <a:t>where:</a:t>
                </a:r>
              </a:p>
              <a:p>
                <a:r>
                  <a:rPr lang="en-US" b="1" dirty="0"/>
                  <a:t>S</a:t>
                </a:r>
                <a:r>
                  <a:rPr lang="en-US" dirty="0"/>
                  <a:t> → Set of all possible states of the puzzle.</a:t>
                </a:r>
              </a:p>
              <a:p>
                <a:r>
                  <a:rPr lang="en-US" b="1" dirty="0"/>
                  <a:t>A</a:t>
                </a:r>
                <a:r>
                  <a:rPr lang="en-US" dirty="0"/>
                  <a:t> → Set of all possible actions (Up, Down, Left, Right).</a:t>
                </a:r>
              </a:p>
              <a:p>
                <a:r>
                  <a:rPr lang="en-US" b="1" dirty="0"/>
                  <a:t>T(s, a)</a:t>
                </a:r>
                <a:r>
                  <a:rPr lang="en-US" dirty="0"/>
                  <a:t> → Transition function that defines how each action changes a state.</a:t>
                </a:r>
              </a:p>
              <a:p>
                <a:r>
                  <a:rPr lang="en-US" b="1" dirty="0"/>
                  <a:t>s₀</a:t>
                </a:r>
                <a:r>
                  <a:rPr lang="en-US" dirty="0"/>
                  <a:t> → Initial (start) state.</a:t>
                </a:r>
              </a:p>
              <a:p>
                <a:r>
                  <a:rPr lang="en-US" b="1" dirty="0"/>
                  <a:t>G</a:t>
                </a:r>
                <a:r>
                  <a:rPr lang="en-US" dirty="0"/>
                  <a:t> → Goal state or set of goal states</a:t>
                </a:r>
              </a:p>
              <a:p>
                <a:pPr marL="0" indent="0">
                  <a:buNone/>
                </a:pPr>
                <a:endParaRPr lang="en-US" dirty="0"/>
              </a:p>
              <a:p>
                <a:pPr marL="0" indent="0">
                  <a:buNone/>
                </a:pPr>
                <a:endParaRPr lang="en-US" dirty="0"/>
              </a:p>
            </p:txBody>
          </p:sp>
        </mc:Choice>
        <mc:Fallback>
          <p:sp>
            <p:nvSpPr>
              <p:cNvPr id="3" name="Content Placeholder 2">
                <a:extLst>
                  <a:ext uri="{FF2B5EF4-FFF2-40B4-BE49-F238E27FC236}">
                    <a16:creationId xmlns:a16="http://schemas.microsoft.com/office/drawing/2014/main" id="{8659FA79-DB4D-1506-A16D-0EC9990607B8}"/>
                  </a:ext>
                </a:extLst>
              </p:cNvPr>
              <p:cNvSpPr>
                <a:spLocks noGrp="1" noRot="1" noChangeAspect="1" noMove="1" noResize="1" noEditPoints="1" noAdjustHandles="1" noChangeArrowheads="1" noChangeShapeType="1" noTextEdit="1"/>
              </p:cNvSpPr>
              <p:nvPr>
                <p:ph idx="1"/>
              </p:nvPr>
            </p:nvSpPr>
            <p:spPr>
              <a:xfrm>
                <a:off x="224851" y="224852"/>
                <a:ext cx="11797259" cy="6445771"/>
              </a:xfrm>
              <a:blipFill>
                <a:blip r:embed="rId2"/>
                <a:stretch>
                  <a:fillRect l="-930" t="-2365" r="-1240"/>
                </a:stretch>
              </a:blipFill>
            </p:spPr>
            <p:txBody>
              <a:bodyPr/>
              <a:lstStyle/>
              <a:p>
                <a:r>
                  <a:rPr lang="en-US">
                    <a:noFill/>
                  </a:rPr>
                  <a:t> </a:t>
                </a:r>
              </a:p>
            </p:txBody>
          </p:sp>
        </mc:Fallback>
      </mc:AlternateContent>
    </p:spTree>
    <p:extLst>
      <p:ext uri="{BB962C8B-B14F-4D97-AF65-F5344CB8AC3E}">
        <p14:creationId xmlns:p14="http://schemas.microsoft.com/office/powerpoint/2010/main" val="26571447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166464-9F6F-C99F-B303-508CA8047466}"/>
              </a:ext>
            </a:extLst>
          </p:cNvPr>
          <p:cNvSpPr>
            <a:spLocks noGrp="1"/>
          </p:cNvSpPr>
          <p:nvPr>
            <p:ph idx="1"/>
          </p:nvPr>
        </p:nvSpPr>
        <p:spPr>
          <a:xfrm>
            <a:off x="164891" y="149902"/>
            <a:ext cx="11842229" cy="6565691"/>
          </a:xfrm>
        </p:spPr>
        <p:txBody>
          <a:bodyPr/>
          <a:lstStyle/>
          <a:p>
            <a:pPr marL="0" indent="0">
              <a:buNone/>
            </a:pPr>
            <a:r>
              <a:rPr lang="en-US" b="1" dirty="0"/>
              <a:t>Start State (s₀)</a:t>
            </a:r>
          </a:p>
          <a:p>
            <a:pPr marL="0" indent="0">
              <a:buNone/>
            </a:pPr>
            <a:r>
              <a:rPr lang="en-US" dirty="0"/>
              <a:t>In the code, the start state is represented as a </a:t>
            </a:r>
            <a:r>
              <a:rPr lang="en-US" b="1" dirty="0"/>
              <a:t>tuple</a:t>
            </a:r>
            <a:r>
              <a:rPr lang="en-US" dirty="0"/>
              <a:t>:</a:t>
            </a:r>
          </a:p>
          <a:p>
            <a:pPr marL="0" indent="0">
              <a:buNone/>
            </a:pPr>
            <a:r>
              <a:rPr lang="en-US" dirty="0" err="1"/>
              <a:t>start_state</a:t>
            </a:r>
            <a:r>
              <a:rPr lang="en-US" dirty="0"/>
              <a:t> = (1, 2, 3,</a:t>
            </a:r>
          </a:p>
          <a:p>
            <a:pPr marL="0" indent="0">
              <a:buNone/>
            </a:pPr>
            <a:r>
              <a:rPr lang="en-US" dirty="0"/>
              <a:t>		    4, 0, 6,</a:t>
            </a:r>
          </a:p>
          <a:p>
            <a:pPr marL="0" indent="0">
              <a:buNone/>
            </a:pPr>
            <a:r>
              <a:rPr lang="en-US" dirty="0"/>
              <a:t>		    7, 5, 8)</a:t>
            </a:r>
          </a:p>
          <a:p>
            <a:pPr marL="0" indent="0">
              <a:buNone/>
            </a:pPr>
            <a:r>
              <a:rPr lang="en-US" dirty="0"/>
              <a:t>This corresponds to the following board layout:</a:t>
            </a:r>
          </a:p>
          <a:p>
            <a:pPr marL="0" indent="0">
              <a:buNone/>
            </a:pPr>
            <a:r>
              <a:rPr lang="en-US" dirty="0"/>
              <a:t>		1  2  3</a:t>
            </a:r>
          </a:p>
          <a:p>
            <a:pPr marL="0" indent="0">
              <a:buNone/>
            </a:pPr>
            <a:r>
              <a:rPr lang="en-US" dirty="0"/>
              <a:t>		4  _  6</a:t>
            </a:r>
          </a:p>
          <a:p>
            <a:pPr marL="0" indent="0">
              <a:buNone/>
            </a:pPr>
            <a:r>
              <a:rPr lang="en-US" dirty="0"/>
              <a:t>		7  5  8</a:t>
            </a:r>
          </a:p>
          <a:p>
            <a:pPr marL="0" indent="0">
              <a:buNone/>
            </a:pPr>
            <a:endParaRPr lang="en-US" dirty="0"/>
          </a:p>
          <a:p>
            <a:pPr marL="0" indent="0">
              <a:buNone/>
            </a:pPr>
            <a:r>
              <a:rPr lang="en-US" dirty="0"/>
              <a:t>Here, </a:t>
            </a:r>
            <a:r>
              <a:rPr lang="en-US" b="1" dirty="0"/>
              <a:t>0</a:t>
            </a:r>
            <a:r>
              <a:rPr lang="en-US" dirty="0"/>
              <a:t> represents the </a:t>
            </a:r>
            <a:r>
              <a:rPr lang="en-US" b="1" dirty="0"/>
              <a:t>blank tile</a:t>
            </a:r>
            <a:r>
              <a:rPr lang="en-US" dirty="0"/>
              <a:t> (empty space).</a:t>
            </a:r>
          </a:p>
        </p:txBody>
      </p:sp>
    </p:spTree>
    <p:extLst>
      <p:ext uri="{BB962C8B-B14F-4D97-AF65-F5344CB8AC3E}">
        <p14:creationId xmlns:p14="http://schemas.microsoft.com/office/powerpoint/2010/main" val="33180284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D2C2E9-3E1E-673E-28C9-E3BB130BEB14}"/>
              </a:ext>
            </a:extLst>
          </p:cNvPr>
          <p:cNvSpPr>
            <a:spLocks noGrp="1"/>
          </p:cNvSpPr>
          <p:nvPr>
            <p:ph idx="1"/>
          </p:nvPr>
        </p:nvSpPr>
        <p:spPr>
          <a:xfrm>
            <a:off x="164891" y="164892"/>
            <a:ext cx="11857219" cy="6490741"/>
          </a:xfrm>
        </p:spPr>
        <p:txBody>
          <a:bodyPr/>
          <a:lstStyle/>
          <a:p>
            <a:pPr marL="0" indent="0">
              <a:buNone/>
            </a:pPr>
            <a:r>
              <a:rPr lang="en-US" b="1" dirty="0"/>
              <a:t>Goal State (G)</a:t>
            </a:r>
          </a:p>
          <a:p>
            <a:pPr marL="0" indent="0">
              <a:buNone/>
            </a:pPr>
            <a:r>
              <a:rPr lang="en-US" dirty="0"/>
              <a:t>The target configuration is defined as:</a:t>
            </a:r>
          </a:p>
          <a:p>
            <a:pPr marL="0" indent="0">
              <a:buNone/>
            </a:pPr>
            <a:r>
              <a:rPr lang="en-US" dirty="0" err="1"/>
              <a:t>goal_state</a:t>
            </a:r>
            <a:r>
              <a:rPr lang="en-US" dirty="0"/>
              <a:t> = (1, 2, 3,</a:t>
            </a:r>
          </a:p>
          <a:p>
            <a:pPr marL="0" indent="0">
              <a:buNone/>
            </a:pPr>
            <a:r>
              <a:rPr lang="en-US" dirty="0"/>
              <a:t>   		   4, 5, 6,</a:t>
            </a:r>
          </a:p>
          <a:p>
            <a:pPr marL="0" indent="0">
              <a:buNone/>
            </a:pPr>
            <a:r>
              <a:rPr lang="en-US" dirty="0"/>
              <a:t> 		    7, 8, 0)</a:t>
            </a:r>
          </a:p>
          <a:p>
            <a:pPr marL="0" indent="0">
              <a:buNone/>
            </a:pPr>
            <a:r>
              <a:rPr lang="en-US" dirty="0"/>
              <a:t>Which represents:</a:t>
            </a:r>
          </a:p>
          <a:p>
            <a:pPr marL="0" indent="0">
              <a:buNone/>
            </a:pPr>
            <a:r>
              <a:rPr lang="en-US" dirty="0"/>
              <a:t>		1  2  3</a:t>
            </a:r>
          </a:p>
          <a:p>
            <a:pPr marL="0" indent="0">
              <a:buNone/>
            </a:pPr>
            <a:r>
              <a:rPr lang="en-US" dirty="0"/>
              <a:t>		4  5  6</a:t>
            </a:r>
          </a:p>
          <a:p>
            <a:pPr marL="0" indent="0">
              <a:buNone/>
            </a:pPr>
            <a:r>
              <a:rPr lang="en-US" dirty="0"/>
              <a:t>		7  8  _</a:t>
            </a:r>
          </a:p>
          <a:p>
            <a:pPr marL="0" indent="0">
              <a:buNone/>
            </a:pPr>
            <a:r>
              <a:rPr lang="en-US" dirty="0"/>
              <a:t>The objective of all algorithms is to reach this configuration from the start state through a sequence of valid moves.</a:t>
            </a:r>
          </a:p>
          <a:p>
            <a:pPr marL="0" indent="0">
              <a:buNone/>
            </a:pPr>
            <a:endParaRPr lang="en-US" dirty="0"/>
          </a:p>
        </p:txBody>
      </p:sp>
    </p:spTree>
    <p:extLst>
      <p:ext uri="{BB962C8B-B14F-4D97-AF65-F5344CB8AC3E}">
        <p14:creationId xmlns:p14="http://schemas.microsoft.com/office/powerpoint/2010/main" val="31019945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20CA51-04C6-062A-8E34-98A0376B38A7}"/>
              </a:ext>
            </a:extLst>
          </p:cNvPr>
          <p:cNvSpPr>
            <a:spLocks noGrp="1"/>
          </p:cNvSpPr>
          <p:nvPr>
            <p:ph idx="1"/>
          </p:nvPr>
        </p:nvSpPr>
        <p:spPr>
          <a:xfrm>
            <a:off x="239843" y="269822"/>
            <a:ext cx="11767278" cy="6385811"/>
          </a:xfrm>
        </p:spPr>
        <p:txBody>
          <a:bodyPr>
            <a:normAutofit fontScale="85000" lnSpcReduction="20000"/>
          </a:bodyPr>
          <a:lstStyle/>
          <a:p>
            <a:pPr marL="0" indent="0">
              <a:buNone/>
            </a:pPr>
            <a:r>
              <a:rPr lang="en-US" b="1" dirty="0"/>
              <a:t>Transition Function (T(s, a))</a:t>
            </a:r>
          </a:p>
          <a:p>
            <a:pPr marL="0" indent="0">
              <a:buNone/>
            </a:pPr>
            <a:r>
              <a:rPr lang="en-US" dirty="0"/>
              <a:t>In the code, the transition function is implemented in the </a:t>
            </a:r>
            <a:r>
              <a:rPr lang="en-US" dirty="0" err="1"/>
              <a:t>get_neighbors</a:t>
            </a:r>
            <a:r>
              <a:rPr lang="en-US" dirty="0"/>
              <a:t>(state) function:</a:t>
            </a:r>
          </a:p>
          <a:p>
            <a:pPr marL="0" indent="0">
              <a:buNone/>
            </a:pPr>
            <a:endParaRPr lang="en-US" dirty="0"/>
          </a:p>
          <a:p>
            <a:pPr marL="0" indent="0">
              <a:buNone/>
            </a:pPr>
            <a:r>
              <a:rPr lang="en-US" dirty="0"/>
              <a:t>def </a:t>
            </a:r>
            <a:r>
              <a:rPr lang="en-US" dirty="0" err="1"/>
              <a:t>get_neighbors</a:t>
            </a:r>
            <a:r>
              <a:rPr lang="en-US" dirty="0"/>
              <a:t>(state):</a:t>
            </a:r>
          </a:p>
          <a:p>
            <a:pPr marL="0" indent="0">
              <a:buNone/>
            </a:pPr>
            <a:r>
              <a:rPr lang="en-US" dirty="0"/>
              <a:t>    neighbors = []</a:t>
            </a:r>
          </a:p>
          <a:p>
            <a:pPr marL="0" indent="0">
              <a:buNone/>
            </a:pPr>
            <a:r>
              <a:rPr lang="en-US" dirty="0"/>
              <a:t>    </a:t>
            </a:r>
            <a:r>
              <a:rPr lang="en-US" dirty="0" err="1"/>
              <a:t>idx</a:t>
            </a:r>
            <a:r>
              <a:rPr lang="en-US" dirty="0"/>
              <a:t> = </a:t>
            </a:r>
            <a:r>
              <a:rPr lang="en-US" dirty="0" err="1"/>
              <a:t>state.index</a:t>
            </a:r>
            <a:r>
              <a:rPr lang="en-US" dirty="0"/>
              <a:t>(0)  # blank tile</a:t>
            </a:r>
          </a:p>
          <a:p>
            <a:pPr marL="0" indent="0">
              <a:buNone/>
            </a:pPr>
            <a:r>
              <a:rPr lang="en-US" dirty="0"/>
              <a:t>    row, col = </a:t>
            </a:r>
            <a:r>
              <a:rPr lang="en-US" dirty="0" err="1"/>
              <a:t>divmod</a:t>
            </a:r>
            <a:r>
              <a:rPr lang="en-US" dirty="0"/>
              <a:t>(</a:t>
            </a:r>
            <a:r>
              <a:rPr lang="en-US" dirty="0" err="1"/>
              <a:t>idx</a:t>
            </a:r>
            <a:r>
              <a:rPr lang="en-US" dirty="0"/>
              <a:t>, 3)</a:t>
            </a:r>
          </a:p>
          <a:p>
            <a:pPr marL="0" indent="0">
              <a:buNone/>
            </a:pPr>
            <a:r>
              <a:rPr lang="en-US" dirty="0"/>
              <a:t>    moves = [(-1,0), (1,0), (0,-1), (0,1)]  # Up, Down, Left, Right</a:t>
            </a:r>
          </a:p>
          <a:p>
            <a:pPr marL="0" indent="0">
              <a:buNone/>
            </a:pPr>
            <a:r>
              <a:rPr lang="en-US" dirty="0"/>
              <a:t>    for dr, dc in moves:</a:t>
            </a:r>
          </a:p>
          <a:p>
            <a:pPr marL="0" indent="0">
              <a:buNone/>
            </a:pPr>
            <a:r>
              <a:rPr lang="en-US" dirty="0"/>
              <a:t>        </a:t>
            </a:r>
            <a:r>
              <a:rPr lang="en-US" dirty="0" err="1"/>
              <a:t>new_row</a:t>
            </a:r>
            <a:r>
              <a:rPr lang="en-US" dirty="0"/>
              <a:t>, </a:t>
            </a:r>
            <a:r>
              <a:rPr lang="en-US" dirty="0" err="1"/>
              <a:t>new_col</a:t>
            </a:r>
            <a:r>
              <a:rPr lang="en-US" dirty="0"/>
              <a:t> = row + dr, col + dc</a:t>
            </a:r>
          </a:p>
          <a:p>
            <a:pPr marL="0" indent="0">
              <a:buNone/>
            </a:pPr>
            <a:r>
              <a:rPr lang="en-US" dirty="0"/>
              <a:t>        if 0 &lt;= </a:t>
            </a:r>
            <a:r>
              <a:rPr lang="en-US" dirty="0" err="1"/>
              <a:t>new_row</a:t>
            </a:r>
            <a:r>
              <a:rPr lang="en-US" dirty="0"/>
              <a:t> &lt; 3 and 0 &lt;= </a:t>
            </a:r>
            <a:r>
              <a:rPr lang="en-US" dirty="0" err="1"/>
              <a:t>new_col</a:t>
            </a:r>
            <a:r>
              <a:rPr lang="en-US" dirty="0"/>
              <a:t> &lt; 3:</a:t>
            </a:r>
          </a:p>
          <a:p>
            <a:pPr marL="0" indent="0">
              <a:buNone/>
            </a:pPr>
            <a:r>
              <a:rPr lang="en-US" dirty="0"/>
              <a:t>            </a:t>
            </a:r>
            <a:r>
              <a:rPr lang="en-US" dirty="0" err="1"/>
              <a:t>new_idx</a:t>
            </a:r>
            <a:r>
              <a:rPr lang="en-US" dirty="0"/>
              <a:t> = </a:t>
            </a:r>
            <a:r>
              <a:rPr lang="en-US" dirty="0" err="1"/>
              <a:t>new_row</a:t>
            </a:r>
            <a:r>
              <a:rPr lang="en-US" dirty="0"/>
              <a:t> * 3 + </a:t>
            </a:r>
            <a:r>
              <a:rPr lang="en-US" dirty="0" err="1"/>
              <a:t>new_col</a:t>
            </a:r>
            <a:endParaRPr lang="en-US" dirty="0"/>
          </a:p>
          <a:p>
            <a:pPr marL="0" indent="0">
              <a:buNone/>
            </a:pPr>
            <a:r>
              <a:rPr lang="en-US" dirty="0"/>
              <a:t>            </a:t>
            </a:r>
            <a:r>
              <a:rPr lang="en-US" dirty="0" err="1"/>
              <a:t>new_state</a:t>
            </a:r>
            <a:r>
              <a:rPr lang="en-US" dirty="0"/>
              <a:t> = list(state)</a:t>
            </a:r>
          </a:p>
          <a:p>
            <a:pPr marL="0" indent="0">
              <a:buNone/>
            </a:pPr>
            <a:r>
              <a:rPr lang="en-US" dirty="0"/>
              <a:t>            </a:t>
            </a:r>
            <a:r>
              <a:rPr lang="en-US" dirty="0" err="1"/>
              <a:t>new_state</a:t>
            </a:r>
            <a:r>
              <a:rPr lang="en-US" dirty="0"/>
              <a:t>[</a:t>
            </a:r>
            <a:r>
              <a:rPr lang="en-US" dirty="0" err="1"/>
              <a:t>idx</a:t>
            </a:r>
            <a:r>
              <a:rPr lang="en-US" dirty="0"/>
              <a:t>], </a:t>
            </a:r>
            <a:r>
              <a:rPr lang="en-US" dirty="0" err="1"/>
              <a:t>new_state</a:t>
            </a:r>
            <a:r>
              <a:rPr lang="en-US" dirty="0"/>
              <a:t>[</a:t>
            </a:r>
            <a:r>
              <a:rPr lang="en-US" dirty="0" err="1"/>
              <a:t>new_idx</a:t>
            </a:r>
            <a:r>
              <a:rPr lang="en-US" dirty="0"/>
              <a:t>] = </a:t>
            </a:r>
            <a:r>
              <a:rPr lang="en-US" dirty="0" err="1"/>
              <a:t>new_state</a:t>
            </a:r>
            <a:r>
              <a:rPr lang="en-US" dirty="0"/>
              <a:t>[</a:t>
            </a:r>
            <a:r>
              <a:rPr lang="en-US" dirty="0" err="1"/>
              <a:t>new_idx</a:t>
            </a:r>
            <a:r>
              <a:rPr lang="en-US" dirty="0"/>
              <a:t>], </a:t>
            </a:r>
            <a:r>
              <a:rPr lang="en-US" dirty="0" err="1"/>
              <a:t>new_state</a:t>
            </a:r>
            <a:r>
              <a:rPr lang="en-US" dirty="0"/>
              <a:t>[</a:t>
            </a:r>
            <a:r>
              <a:rPr lang="en-US" dirty="0" err="1"/>
              <a:t>idx</a:t>
            </a:r>
            <a:r>
              <a:rPr lang="en-US" dirty="0"/>
              <a:t>]</a:t>
            </a:r>
          </a:p>
          <a:p>
            <a:pPr marL="0" indent="0">
              <a:buNone/>
            </a:pPr>
            <a:r>
              <a:rPr lang="en-US" dirty="0"/>
              <a:t>            </a:t>
            </a:r>
            <a:r>
              <a:rPr lang="en-US" dirty="0" err="1"/>
              <a:t>neighbors.append</a:t>
            </a:r>
            <a:r>
              <a:rPr lang="en-US" dirty="0"/>
              <a:t>(tuple(</a:t>
            </a:r>
            <a:r>
              <a:rPr lang="en-US" dirty="0" err="1"/>
              <a:t>new_state</a:t>
            </a:r>
            <a:r>
              <a:rPr lang="en-US" dirty="0"/>
              <a:t>))</a:t>
            </a:r>
          </a:p>
          <a:p>
            <a:pPr marL="0" indent="0">
              <a:buNone/>
            </a:pPr>
            <a:r>
              <a:rPr lang="en-US" dirty="0"/>
              <a:t>    return neighbors</a:t>
            </a:r>
          </a:p>
        </p:txBody>
      </p:sp>
    </p:spTree>
    <p:extLst>
      <p:ext uri="{BB962C8B-B14F-4D97-AF65-F5344CB8AC3E}">
        <p14:creationId xmlns:p14="http://schemas.microsoft.com/office/powerpoint/2010/main" val="155504729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5817E4-1870-6740-76C3-E93BB3D3DCFF}"/>
              </a:ext>
            </a:extLst>
          </p:cNvPr>
          <p:cNvSpPr>
            <a:spLocks noGrp="1"/>
          </p:cNvSpPr>
          <p:nvPr>
            <p:ph idx="1"/>
          </p:nvPr>
        </p:nvSpPr>
        <p:spPr>
          <a:xfrm>
            <a:off x="209861" y="134911"/>
            <a:ext cx="11812249" cy="6580682"/>
          </a:xfrm>
        </p:spPr>
        <p:txBody>
          <a:bodyPr>
            <a:normAutofit/>
          </a:bodyPr>
          <a:lstStyle/>
          <a:p>
            <a:pPr marL="0" indent="0">
              <a:buNone/>
            </a:pPr>
            <a:r>
              <a:rPr lang="en-US" dirty="0"/>
              <a:t>From the code;</a:t>
            </a:r>
          </a:p>
          <a:p>
            <a:pPr marL="0" indent="0">
              <a:buNone/>
            </a:pPr>
            <a:endParaRPr lang="en-US" dirty="0"/>
          </a:p>
          <a:p>
            <a:pPr marL="0" indent="0">
              <a:buNone/>
            </a:pPr>
            <a:r>
              <a:rPr lang="en-US" dirty="0"/>
              <a:t>Input: The current state (a tuple of length 9).</a:t>
            </a:r>
          </a:p>
          <a:p>
            <a:pPr marL="0" indent="0">
              <a:buNone/>
            </a:pPr>
            <a:r>
              <a:rPr lang="en-US" dirty="0"/>
              <a:t>Process:</a:t>
            </a:r>
          </a:p>
          <a:p>
            <a:r>
              <a:rPr lang="en-US" dirty="0"/>
              <a:t>Locate the blank tile (0).</a:t>
            </a:r>
          </a:p>
          <a:p>
            <a:r>
              <a:rPr lang="en-US" dirty="0"/>
              <a:t>Determine valid moves (Up, Down, Left, Right).</a:t>
            </a:r>
          </a:p>
          <a:p>
            <a:r>
              <a:rPr lang="en-US" dirty="0"/>
              <a:t>Swap the blank tile with the adjacent tile for each valid move.</a:t>
            </a:r>
          </a:p>
          <a:p>
            <a:r>
              <a:rPr lang="en-US" dirty="0"/>
              <a:t>Return all resulting states as possible next states.</a:t>
            </a:r>
          </a:p>
          <a:p>
            <a:endParaRPr lang="en-US" dirty="0"/>
          </a:p>
          <a:p>
            <a:pPr marL="0" indent="0">
              <a:buNone/>
            </a:pPr>
            <a:r>
              <a:rPr lang="en-US" dirty="0"/>
              <a:t>Output: A list of new states reachable from the current one in a single move.</a:t>
            </a:r>
          </a:p>
        </p:txBody>
      </p:sp>
    </p:spTree>
    <p:extLst>
      <p:ext uri="{BB962C8B-B14F-4D97-AF65-F5344CB8AC3E}">
        <p14:creationId xmlns:p14="http://schemas.microsoft.com/office/powerpoint/2010/main" val="228253795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4FDB43-F9D3-CE6E-A6A8-6CA7BE34EE74}"/>
              </a:ext>
            </a:extLst>
          </p:cNvPr>
          <p:cNvSpPr>
            <a:spLocks noGrp="1"/>
          </p:cNvSpPr>
          <p:nvPr>
            <p:ph idx="1"/>
          </p:nvPr>
        </p:nvSpPr>
        <p:spPr>
          <a:xfrm>
            <a:off x="194872" y="164892"/>
            <a:ext cx="11737298" cy="6505731"/>
          </a:xfrm>
        </p:spPr>
        <p:txBody>
          <a:bodyPr>
            <a:normAutofit lnSpcReduction="10000"/>
          </a:bodyPr>
          <a:lstStyle/>
          <a:p>
            <a:pPr marL="0" indent="0">
              <a:buNone/>
            </a:pPr>
            <a:r>
              <a:rPr lang="en-US" b="1" dirty="0"/>
              <a:t>Path Cost Function</a:t>
            </a:r>
          </a:p>
          <a:p>
            <a:pPr marL="0" indent="0">
              <a:buNone/>
            </a:pPr>
            <a:r>
              <a:rPr lang="en-US" dirty="0"/>
              <a:t>In this code:</a:t>
            </a:r>
          </a:p>
          <a:p>
            <a:pPr marL="0" indent="0">
              <a:buNone/>
            </a:pPr>
            <a:r>
              <a:rPr lang="en-US" dirty="0"/>
              <a:t>Each move has an equal cost of 1.</a:t>
            </a:r>
          </a:p>
          <a:p>
            <a:pPr marL="0" indent="0">
              <a:buNone/>
            </a:pPr>
            <a:r>
              <a:rPr lang="en-US" dirty="0"/>
              <a:t>Therefore, the total path cost = number of moves from start to goal.</a:t>
            </a:r>
          </a:p>
          <a:p>
            <a:pPr marL="0" indent="0">
              <a:buNone/>
            </a:pPr>
            <a:r>
              <a:rPr lang="en-US" dirty="0"/>
              <a:t>(In BFS and IDS, this ensures the algorithm finds the optimal path—the shortest sequence of moves.)</a:t>
            </a:r>
          </a:p>
          <a:p>
            <a:pPr marL="0" indent="0">
              <a:buNone/>
            </a:pPr>
            <a:endParaRPr lang="en-US" dirty="0"/>
          </a:p>
          <a:p>
            <a:pPr marL="0" indent="0">
              <a:buNone/>
            </a:pPr>
            <a:r>
              <a:rPr lang="en-US" b="1" dirty="0"/>
              <a:t>Goal Test</a:t>
            </a:r>
          </a:p>
          <a:p>
            <a:pPr marL="0" indent="0">
              <a:buNone/>
            </a:pPr>
            <a:r>
              <a:rPr lang="en-US" dirty="0"/>
              <a:t>The goal test checks whether the current state equals the goal configuration:</a:t>
            </a:r>
          </a:p>
          <a:p>
            <a:pPr marL="0" indent="0">
              <a:buNone/>
            </a:pPr>
            <a:r>
              <a:rPr lang="en-US" dirty="0"/>
              <a:t>		if node == goal:</a:t>
            </a:r>
          </a:p>
          <a:p>
            <a:pPr marL="0" indent="0">
              <a:buNone/>
            </a:pPr>
            <a:r>
              <a:rPr lang="en-US" dirty="0"/>
              <a:t>		return path</a:t>
            </a:r>
          </a:p>
          <a:p>
            <a:r>
              <a:rPr lang="en-US" dirty="0"/>
              <a:t>This terminates the search and returns the successful path once the goal is found.</a:t>
            </a:r>
          </a:p>
          <a:p>
            <a:pPr marL="0" indent="0">
              <a:buNone/>
            </a:pPr>
            <a:endParaRPr lang="en-US" dirty="0"/>
          </a:p>
        </p:txBody>
      </p:sp>
    </p:spTree>
    <p:extLst>
      <p:ext uri="{BB962C8B-B14F-4D97-AF65-F5344CB8AC3E}">
        <p14:creationId xmlns:p14="http://schemas.microsoft.com/office/powerpoint/2010/main" val="5355718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C84E20-9899-079E-FB92-5E8A5E05FF24}"/>
              </a:ext>
            </a:extLst>
          </p:cNvPr>
          <p:cNvSpPr>
            <a:spLocks noGrp="1"/>
          </p:cNvSpPr>
          <p:nvPr>
            <p:ph idx="1"/>
          </p:nvPr>
        </p:nvSpPr>
        <p:spPr>
          <a:xfrm>
            <a:off x="209861" y="179882"/>
            <a:ext cx="11812249" cy="6430780"/>
          </a:xfrm>
        </p:spPr>
        <p:txBody>
          <a:bodyPr/>
          <a:lstStyle/>
          <a:p>
            <a:pPr marL="0" indent="0" algn="ctr">
              <a:buNone/>
            </a:pPr>
            <a:r>
              <a:rPr lang="en-US" b="1" dirty="0"/>
              <a:t>Output result on google </a:t>
            </a:r>
            <a:r>
              <a:rPr lang="en-US" b="1" dirty="0" err="1"/>
              <a:t>colab</a:t>
            </a:r>
            <a:endParaRPr lang="en-US" b="1" dirty="0"/>
          </a:p>
          <a:p>
            <a:pPr marL="0" indent="0">
              <a:buNone/>
            </a:pPr>
            <a:r>
              <a:rPr lang="en-US" dirty="0"/>
              <a:t>Running BFS... Execution Time: 0.0001s Nodes Expanded: 8 Solution Length: 2 Final State: (1, 2, 3) (4, 5, 6) (7, 8, 0) ================================================== Running DFS... Execution Time: 0.0002s Nodes Expanded: 47 Solution Length: 30 Final State: (1, 2, 3) (4, 5, 6) (7, 8, 0) ================================================== Running DLS (limit=10)... Execution Time: 0.0009s Nodes Expanded: 448 Solution Length: 2 Final State: (1, 2, 3) (4, 5, 6) (7, 8, 0) ================================================== Running IDS... Execution Time: 0.0000s Nodes Expanded: 13 Solution Length: 2 Final State: (1, 2, 3) (4, 5, 6) (7, 8, 0) ================================================== Running Bidirectional... Execution Time: 0.0000s Nodes Expanded: 1 Solution Length: 1 Final State: (1, 2, 3) (4, 5, 6) (7, 0, 8)</a:t>
            </a:r>
          </a:p>
        </p:txBody>
      </p:sp>
    </p:spTree>
    <p:extLst>
      <p:ext uri="{BB962C8B-B14F-4D97-AF65-F5344CB8AC3E}">
        <p14:creationId xmlns:p14="http://schemas.microsoft.com/office/powerpoint/2010/main" val="31410329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64880D-3068-1783-0F2A-05B518C108C8}"/>
              </a:ext>
            </a:extLst>
          </p:cNvPr>
          <p:cNvSpPr>
            <a:spLocks noGrp="1"/>
          </p:cNvSpPr>
          <p:nvPr>
            <p:ph idx="1"/>
          </p:nvPr>
        </p:nvSpPr>
        <p:spPr>
          <a:xfrm>
            <a:off x="179881" y="284812"/>
            <a:ext cx="11827239" cy="6415791"/>
          </a:xfrm>
        </p:spPr>
        <p:txBody>
          <a:bodyPr/>
          <a:lstStyle/>
          <a:p>
            <a:pPr marL="0" indent="0">
              <a:buNone/>
            </a:pPr>
            <a:r>
              <a:rPr lang="en-US" b="1" dirty="0"/>
              <a:t>Practical questions (Ensure to do this for your own sake)</a:t>
            </a:r>
          </a:p>
          <a:p>
            <a:pPr marL="0" indent="0">
              <a:buNone/>
            </a:pPr>
            <a:r>
              <a:rPr lang="en-US" b="1" dirty="0"/>
              <a:t>Question 1: Algorithm Behavior Comparison</a:t>
            </a:r>
          </a:p>
          <a:p>
            <a:pPr marL="0" indent="0">
              <a:buNone/>
            </a:pPr>
            <a:r>
              <a:rPr lang="en-US" b="1" dirty="0"/>
              <a:t>Task:</a:t>
            </a:r>
            <a:br>
              <a:rPr lang="en-US" dirty="0"/>
            </a:br>
            <a:r>
              <a:rPr lang="en-US" dirty="0"/>
              <a:t>Run the 8-puzzle solver using </a:t>
            </a:r>
            <a:r>
              <a:rPr lang="en-US" b="1" dirty="0"/>
              <a:t>BFS, DFS, DLS, IDS, and Bidirectional Search</a:t>
            </a:r>
            <a:r>
              <a:rPr lang="en-US" dirty="0"/>
              <a:t> on the same start and goal states.</a:t>
            </a:r>
          </a:p>
          <a:p>
            <a:pPr marL="0" indent="0">
              <a:buNone/>
            </a:pPr>
            <a:r>
              <a:rPr lang="en-US" b="1" dirty="0"/>
              <a:t>Instructions:</a:t>
            </a:r>
            <a:endParaRPr lang="en-US" dirty="0"/>
          </a:p>
          <a:p>
            <a:r>
              <a:rPr lang="en-US" dirty="0"/>
              <a:t>Record the number of steps (path length), number of nodes expanded, and time taken by each algorithm.</a:t>
            </a:r>
          </a:p>
          <a:p>
            <a:r>
              <a:rPr lang="en-US" dirty="0"/>
              <a:t>Present your results in a comparison table.</a:t>
            </a:r>
          </a:p>
          <a:p>
            <a:pPr marL="0" indent="0">
              <a:buNone/>
            </a:pPr>
            <a:r>
              <a:rPr lang="en-US" b="1" dirty="0"/>
              <a:t>Question:</a:t>
            </a:r>
            <a:endParaRPr lang="en-US" dirty="0"/>
          </a:p>
          <a:p>
            <a:r>
              <a:rPr lang="en-US" dirty="0"/>
              <a:t>Which of these algorithms found the shortest path?</a:t>
            </a:r>
          </a:p>
          <a:p>
            <a:r>
              <a:rPr lang="en-US" dirty="0"/>
              <a:t>Which algorithm took the longest time, and why?</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12250337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06EC60-FE5E-ACE1-04DB-BE2064D51B12}"/>
              </a:ext>
            </a:extLst>
          </p:cNvPr>
          <p:cNvSpPr>
            <a:spLocks noGrp="1"/>
          </p:cNvSpPr>
          <p:nvPr>
            <p:ph idx="1"/>
          </p:nvPr>
        </p:nvSpPr>
        <p:spPr>
          <a:xfrm>
            <a:off x="284813" y="104931"/>
            <a:ext cx="11737298" cy="6565692"/>
          </a:xfrm>
        </p:spPr>
        <p:txBody>
          <a:bodyPr>
            <a:normAutofit lnSpcReduction="10000"/>
          </a:bodyPr>
          <a:lstStyle/>
          <a:p>
            <a:pPr marL="0" indent="0">
              <a:buNone/>
            </a:pPr>
            <a:r>
              <a:rPr lang="en-US" b="1" dirty="0"/>
              <a:t>Question 2: Optimality and Completeness</a:t>
            </a:r>
          </a:p>
          <a:p>
            <a:pPr marL="0" indent="0">
              <a:buNone/>
            </a:pPr>
            <a:r>
              <a:rPr lang="en-US" b="1" dirty="0"/>
              <a:t>Task:</a:t>
            </a:r>
            <a:br>
              <a:rPr lang="en-US" dirty="0"/>
            </a:br>
            <a:r>
              <a:rPr lang="en-US" dirty="0"/>
              <a:t>Modify the start state so that the puzzle is more difficult to solve, for example:</a:t>
            </a:r>
          </a:p>
          <a:p>
            <a:pPr marL="0" indent="0">
              <a:buNone/>
            </a:pPr>
            <a:r>
              <a:rPr lang="en-US" dirty="0"/>
              <a:t>		</a:t>
            </a:r>
            <a:r>
              <a:rPr lang="en-US" dirty="0" err="1"/>
              <a:t>start_state</a:t>
            </a:r>
            <a:r>
              <a:rPr lang="en-US" dirty="0"/>
              <a:t> = (1, 3, 4,</a:t>
            </a:r>
          </a:p>
          <a:p>
            <a:pPr marL="0" indent="0">
              <a:buNone/>
            </a:pPr>
            <a:r>
              <a:rPr lang="en-US" dirty="0"/>
              <a:t>				    8, 6, 2,</a:t>
            </a:r>
          </a:p>
          <a:p>
            <a:pPr marL="0" indent="0">
              <a:buNone/>
            </a:pPr>
            <a:r>
              <a:rPr lang="en-US" dirty="0"/>
              <a:t>		 		    7, 0, 5)</a:t>
            </a:r>
          </a:p>
          <a:p>
            <a:pPr marL="0" indent="0">
              <a:buNone/>
            </a:pPr>
            <a:r>
              <a:rPr lang="en-US" dirty="0"/>
              <a:t>Then re-run all algorithms.</a:t>
            </a:r>
          </a:p>
          <a:p>
            <a:pPr marL="0" indent="0">
              <a:buNone/>
            </a:pPr>
            <a:r>
              <a:rPr lang="en-US" b="1" dirty="0"/>
              <a:t>Question:</a:t>
            </a:r>
            <a:endParaRPr lang="en-US" dirty="0"/>
          </a:p>
          <a:p>
            <a:r>
              <a:rPr lang="en-US" dirty="0"/>
              <a:t>Which of the algorithms are </a:t>
            </a:r>
            <a:r>
              <a:rPr lang="en-US" b="1" dirty="0"/>
              <a:t>complete</a:t>
            </a:r>
            <a:r>
              <a:rPr lang="en-US" dirty="0"/>
              <a:t> (i.e., guaranteed to find a solution if it exists)?</a:t>
            </a:r>
          </a:p>
          <a:p>
            <a:r>
              <a:rPr lang="en-US" dirty="0"/>
              <a:t>Which are </a:t>
            </a:r>
            <a:r>
              <a:rPr lang="en-US" b="1" dirty="0"/>
              <a:t>optimal</a:t>
            </a:r>
            <a:r>
              <a:rPr lang="en-US" dirty="0"/>
              <a:t> (i.e., guaranteed to find the shortest path)?</a:t>
            </a:r>
          </a:p>
          <a:p>
            <a:r>
              <a:rPr lang="en-US" dirty="0"/>
              <a:t>Explain your observations based on their search strategies (tree traversal order and path cost).</a:t>
            </a:r>
          </a:p>
          <a:p>
            <a:pPr marL="0" indent="0">
              <a:buNone/>
            </a:pPr>
            <a:endParaRPr lang="en-US" dirty="0"/>
          </a:p>
        </p:txBody>
      </p:sp>
    </p:spTree>
    <p:extLst>
      <p:ext uri="{BB962C8B-B14F-4D97-AF65-F5344CB8AC3E}">
        <p14:creationId xmlns:p14="http://schemas.microsoft.com/office/powerpoint/2010/main" val="29261234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AC121C-D4CE-92C1-98DD-80C55852BAB6}"/>
              </a:ext>
            </a:extLst>
          </p:cNvPr>
          <p:cNvSpPr>
            <a:spLocks noGrp="1"/>
          </p:cNvSpPr>
          <p:nvPr>
            <p:ph idx="1"/>
          </p:nvPr>
        </p:nvSpPr>
        <p:spPr>
          <a:xfrm>
            <a:off x="254833" y="254833"/>
            <a:ext cx="11797259" cy="6385810"/>
          </a:xfrm>
        </p:spPr>
        <p:txBody>
          <a:bodyPr/>
          <a:lstStyle/>
          <a:p>
            <a:pPr marL="0" indent="0">
              <a:buNone/>
            </a:pPr>
            <a:r>
              <a:rPr lang="en-US" b="1" dirty="0"/>
              <a:t>Question 3: Depth Limit Experiment (for DLS)</a:t>
            </a:r>
          </a:p>
          <a:p>
            <a:pPr marL="0" indent="0">
              <a:buNone/>
            </a:pPr>
            <a:r>
              <a:rPr lang="en-US" b="1" dirty="0"/>
              <a:t>Task:</a:t>
            </a:r>
            <a:br>
              <a:rPr lang="en-US" dirty="0"/>
            </a:br>
            <a:r>
              <a:rPr lang="en-US" dirty="0"/>
              <a:t>Experiment with </a:t>
            </a:r>
            <a:r>
              <a:rPr lang="en-US" b="1" dirty="0"/>
              <a:t>different depth limits</a:t>
            </a:r>
            <a:r>
              <a:rPr lang="en-US" dirty="0"/>
              <a:t> (e.g., 5, 10, 15, 20) for the </a:t>
            </a:r>
            <a:r>
              <a:rPr lang="en-US" b="1" dirty="0"/>
              <a:t>Depth-Limited Search</a:t>
            </a:r>
            <a:r>
              <a:rPr lang="en-US" dirty="0"/>
              <a:t> algorithm.</a:t>
            </a:r>
          </a:p>
          <a:p>
            <a:pPr marL="0" indent="0">
              <a:buNone/>
            </a:pPr>
            <a:r>
              <a:rPr lang="en-US" b="1" dirty="0"/>
              <a:t>Question:</a:t>
            </a:r>
            <a:endParaRPr lang="en-US" dirty="0"/>
          </a:p>
          <a:p>
            <a:r>
              <a:rPr lang="en-US" dirty="0"/>
              <a:t>What happens when the depth limit is </a:t>
            </a:r>
            <a:r>
              <a:rPr lang="en-US" b="1" dirty="0"/>
              <a:t>too small</a:t>
            </a:r>
            <a:r>
              <a:rPr lang="en-US" dirty="0"/>
              <a:t>?</a:t>
            </a:r>
          </a:p>
          <a:p>
            <a:r>
              <a:rPr lang="en-US" dirty="0"/>
              <a:t>What happens when the limit is </a:t>
            </a:r>
            <a:r>
              <a:rPr lang="en-US" b="1" dirty="0"/>
              <a:t>too large</a:t>
            </a:r>
            <a:r>
              <a:rPr lang="en-US" dirty="0"/>
              <a:t>?</a:t>
            </a:r>
          </a:p>
          <a:p>
            <a:r>
              <a:rPr lang="en-US" dirty="0"/>
              <a:t>How does </a:t>
            </a:r>
            <a:r>
              <a:rPr lang="en-US" b="1" dirty="0"/>
              <a:t>Iterative Deepening Search (IDS)</a:t>
            </a:r>
            <a:r>
              <a:rPr lang="en-US" dirty="0"/>
              <a:t> overcome this limitation?</a:t>
            </a:r>
          </a:p>
          <a:p>
            <a:pPr marL="0" indent="0">
              <a:buNone/>
            </a:pPr>
            <a:endParaRPr lang="en-US" dirty="0"/>
          </a:p>
        </p:txBody>
      </p:sp>
    </p:spTree>
    <p:extLst>
      <p:ext uri="{BB962C8B-B14F-4D97-AF65-F5344CB8AC3E}">
        <p14:creationId xmlns:p14="http://schemas.microsoft.com/office/powerpoint/2010/main" val="19879752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CC8CA8-4534-994F-04F5-E6055B7A3B8A}"/>
              </a:ext>
            </a:extLst>
          </p:cNvPr>
          <p:cNvSpPr>
            <a:spLocks noGrp="1"/>
          </p:cNvSpPr>
          <p:nvPr>
            <p:ph idx="1"/>
          </p:nvPr>
        </p:nvSpPr>
        <p:spPr>
          <a:xfrm>
            <a:off x="269823" y="194872"/>
            <a:ext cx="11752288" cy="6520721"/>
          </a:xfrm>
        </p:spPr>
        <p:txBody>
          <a:bodyPr/>
          <a:lstStyle/>
          <a:p>
            <a:pPr marL="0" indent="0">
              <a:buNone/>
            </a:pPr>
            <a:r>
              <a:rPr lang="en-US" b="1" dirty="0"/>
              <a:t>Question 4: Visualize and Explain Search Frontier</a:t>
            </a:r>
          </a:p>
          <a:p>
            <a:pPr marL="0" indent="0">
              <a:buNone/>
            </a:pPr>
            <a:r>
              <a:rPr lang="en-US" b="1" dirty="0"/>
              <a:t>Task:</a:t>
            </a:r>
            <a:br>
              <a:rPr lang="en-US" dirty="0"/>
            </a:br>
            <a:r>
              <a:rPr lang="en-US" dirty="0"/>
              <a:t>Print or visualize the </a:t>
            </a:r>
            <a:r>
              <a:rPr lang="en-US" b="1" dirty="0"/>
              <a:t>frontier (open list)</a:t>
            </a:r>
            <a:r>
              <a:rPr lang="en-US" dirty="0"/>
              <a:t> and </a:t>
            </a:r>
            <a:r>
              <a:rPr lang="en-US" b="1" dirty="0"/>
              <a:t>visited nodes (closed list)</a:t>
            </a:r>
            <a:r>
              <a:rPr lang="en-US" dirty="0"/>
              <a:t> for </a:t>
            </a:r>
            <a:r>
              <a:rPr lang="en-US" b="1" dirty="0"/>
              <a:t>BFS</a:t>
            </a:r>
            <a:r>
              <a:rPr lang="en-US" dirty="0"/>
              <a:t> and </a:t>
            </a:r>
            <a:r>
              <a:rPr lang="en-US" b="1" dirty="0"/>
              <a:t>DFS</a:t>
            </a:r>
            <a:r>
              <a:rPr lang="en-US" dirty="0"/>
              <a:t> at each iteration.</a:t>
            </a:r>
          </a:p>
          <a:p>
            <a:pPr marL="0" indent="0">
              <a:buNone/>
            </a:pPr>
            <a:r>
              <a:rPr lang="en-US" b="1" dirty="0"/>
              <a:t>Question:</a:t>
            </a:r>
            <a:endParaRPr lang="en-US" dirty="0"/>
          </a:p>
          <a:p>
            <a:r>
              <a:rPr lang="en-US" dirty="0"/>
              <a:t>Describe how the search frontier grows differently in BFS vs DFS.</a:t>
            </a:r>
          </a:p>
          <a:p>
            <a:r>
              <a:rPr lang="en-US" dirty="0"/>
              <a:t>Why does BFS consume more memory than DFS?</a:t>
            </a:r>
          </a:p>
          <a:p>
            <a:r>
              <a:rPr lang="en-US" dirty="0"/>
              <a:t>How does this difference affect their </a:t>
            </a:r>
            <a:r>
              <a:rPr lang="en-US" b="1" dirty="0"/>
              <a:t>space complexity</a:t>
            </a:r>
            <a:r>
              <a:rPr lang="en-US" dirty="0"/>
              <a:t>?</a:t>
            </a:r>
          </a:p>
          <a:p>
            <a:pPr marL="0" indent="0">
              <a:buNone/>
            </a:pPr>
            <a:endParaRPr lang="en-US" dirty="0"/>
          </a:p>
        </p:txBody>
      </p:sp>
    </p:spTree>
    <p:extLst>
      <p:ext uri="{BB962C8B-B14F-4D97-AF65-F5344CB8AC3E}">
        <p14:creationId xmlns:p14="http://schemas.microsoft.com/office/powerpoint/2010/main" val="109398945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7A3CB7-9E79-F2FA-FD3C-B7B6524FE097}"/>
              </a:ext>
            </a:extLst>
          </p:cNvPr>
          <p:cNvSpPr>
            <a:spLocks noGrp="1"/>
          </p:cNvSpPr>
          <p:nvPr>
            <p:ph idx="1"/>
          </p:nvPr>
        </p:nvSpPr>
        <p:spPr>
          <a:xfrm>
            <a:off x="134911" y="209862"/>
            <a:ext cx="11857220" cy="6505731"/>
          </a:xfrm>
        </p:spPr>
        <p:txBody>
          <a:bodyPr/>
          <a:lstStyle/>
          <a:p>
            <a:pPr marL="0" indent="0">
              <a:buNone/>
            </a:pPr>
            <a:r>
              <a:rPr lang="en-US" b="1" dirty="0"/>
              <a:t>Question 5: Design and Extension Challenge</a:t>
            </a:r>
          </a:p>
          <a:p>
            <a:pPr marL="0" indent="0">
              <a:buNone/>
            </a:pPr>
            <a:r>
              <a:rPr lang="en-US" b="1" dirty="0"/>
              <a:t>Task:</a:t>
            </a:r>
            <a:br>
              <a:rPr lang="en-US" dirty="0"/>
            </a:br>
            <a:r>
              <a:rPr lang="en-US" dirty="0"/>
              <a:t>Extend the code to include </a:t>
            </a:r>
            <a:r>
              <a:rPr lang="en-US" b="1" dirty="0"/>
              <a:t>Uniform Cost Search (UCS)</a:t>
            </a:r>
            <a:r>
              <a:rPr lang="en-US" dirty="0"/>
              <a:t> and </a:t>
            </a:r>
            <a:r>
              <a:rPr lang="en-US" b="1" dirty="0"/>
              <a:t>A*</a:t>
            </a:r>
            <a:r>
              <a:rPr lang="en-US" dirty="0"/>
              <a:t> Search for the same 8-puzzle problem.</a:t>
            </a:r>
            <a:br>
              <a:rPr lang="en-US" dirty="0"/>
            </a:br>
            <a:r>
              <a:rPr lang="en-US" dirty="0"/>
              <a:t>Use a simple heuristic function such as </a:t>
            </a:r>
            <a:r>
              <a:rPr lang="en-US" b="1" dirty="0"/>
              <a:t>Misplaced Tiles</a:t>
            </a:r>
            <a:r>
              <a:rPr lang="en-US" dirty="0"/>
              <a:t> or </a:t>
            </a:r>
            <a:r>
              <a:rPr lang="en-US" b="1" dirty="0"/>
              <a:t>Manhattan Distance</a:t>
            </a:r>
            <a:r>
              <a:rPr lang="en-US" dirty="0"/>
              <a:t>.</a:t>
            </a:r>
          </a:p>
          <a:p>
            <a:pPr marL="0" indent="0">
              <a:buNone/>
            </a:pPr>
            <a:r>
              <a:rPr lang="en-US" b="1" dirty="0"/>
              <a:t>Question:</a:t>
            </a:r>
            <a:endParaRPr lang="en-US" dirty="0"/>
          </a:p>
          <a:p>
            <a:r>
              <a:rPr lang="en-US" dirty="0"/>
              <a:t>Compare the performance of your A* implementation to BFS and IDS.</a:t>
            </a:r>
          </a:p>
          <a:p>
            <a:r>
              <a:rPr lang="en-US" dirty="0"/>
              <a:t>How does the heuristic improve efficiency?</a:t>
            </a:r>
          </a:p>
          <a:p>
            <a:r>
              <a:rPr lang="en-US" dirty="0"/>
              <a:t>Is A* both complete and optimal? Under what conditions?</a:t>
            </a:r>
          </a:p>
          <a:p>
            <a:pPr marL="0" indent="0">
              <a:buNone/>
            </a:pPr>
            <a:endParaRPr lang="en-US" dirty="0"/>
          </a:p>
        </p:txBody>
      </p:sp>
    </p:spTree>
    <p:extLst>
      <p:ext uri="{BB962C8B-B14F-4D97-AF65-F5344CB8AC3E}">
        <p14:creationId xmlns:p14="http://schemas.microsoft.com/office/powerpoint/2010/main" val="24444041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34CB8B-388A-F368-1E6B-DDE038C8F792}"/>
              </a:ext>
            </a:extLst>
          </p:cNvPr>
          <p:cNvSpPr>
            <a:spLocks noGrp="1"/>
          </p:cNvSpPr>
          <p:nvPr>
            <p:ph idx="1"/>
          </p:nvPr>
        </p:nvSpPr>
        <p:spPr>
          <a:xfrm>
            <a:off x="194871" y="164892"/>
            <a:ext cx="11797259" cy="6505731"/>
          </a:xfrm>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Note that this project will be checked and assessed on each student’s laptop at any chosen time by the assessor. </a:t>
            </a:r>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21365243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3483</TotalTime>
  <Words>5852</Words>
  <Application>Microsoft Office PowerPoint</Application>
  <PresentationFormat>Widescreen</PresentationFormat>
  <Paragraphs>533</Paragraphs>
  <Slides>58</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58</vt:i4>
      </vt:variant>
    </vt:vector>
  </HeadingPairs>
  <TitlesOfParts>
    <vt:vector size="64" baseType="lpstr">
      <vt:lpstr>Aptos</vt:lpstr>
      <vt:lpstr>Aptos Display</vt:lpstr>
      <vt:lpstr>Arial</vt:lpstr>
      <vt:lpstr>Cambria Math</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Funmilayo Sanusi</dc:creator>
  <cp:lastModifiedBy>Funmilayo Sanusi</cp:lastModifiedBy>
  <cp:revision>18</cp:revision>
  <dcterms:created xsi:type="dcterms:W3CDTF">2025-05-14T14:48:53Z</dcterms:created>
  <dcterms:modified xsi:type="dcterms:W3CDTF">2025-10-19T17:32:00Z</dcterms:modified>
</cp:coreProperties>
</file>